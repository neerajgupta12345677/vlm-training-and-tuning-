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12438"/>
        </a:solidFill>
        <a:effectLst/>
      </p:bgPr>
    </p:bg>
    <p:spTree>
      <p:nvGrpSpPr>
        <p:cNvPr id="1" name=""/>
        <p:cNvGrpSpPr/>
        <p:nvPr/>
      </p:nvGrpSpPr>
      <p:grpSpPr/>
      <p:sp>
        <p:nvSpPr>
          <p:cNvPr id="2" name="Rectangle 1"/>
          <p:cNvSpPr/>
          <p:nvPr/>
        </p:nvSpPr>
        <p:spPr>
          <a:xfrm>
            <a:off x="0" y="6309360"/>
            <a:ext cx="12191695" cy="54864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10515600" cy="457200"/>
          </a:xfrm>
          <a:prstGeom prst="rect">
            <a:avLst/>
          </a:prstGeom>
          <a:noFill/>
        </p:spPr>
        <p:txBody>
          <a:bodyPr wrap="square" lIns="0" rIns="0" tIns="0" bIns="0">
            <a:spAutoFit/>
          </a:bodyPr>
          <a:lstStyle/>
          <a:p>
            <a:pPr algn="l">
              <a:spcBef>
                <a:spcPts val="0"/>
              </a:spcBef>
              <a:spcAft>
                <a:spcPts val="200"/>
              </a:spcAft>
            </a:pPr>
            <a:r>
              <a:rPr sz="1250" b="1" i="0">
                <a:solidFill>
                  <a:srgbClr val="2E86AB"/>
                </a:solidFill>
                <a:latin typeface="Segoe UI"/>
              </a:rPr>
              <a:t>VISUAL ANOMALY DETECTION — PLAIN-LANGUAGE OVERVIEW</a:t>
            </a:r>
          </a:p>
        </p:txBody>
      </p:sp>
      <p:sp>
        <p:nvSpPr>
          <p:cNvPr id="4" name="TextBox 3"/>
          <p:cNvSpPr txBox="1"/>
          <p:nvPr/>
        </p:nvSpPr>
        <p:spPr>
          <a:xfrm>
            <a:off x="822960" y="960120"/>
            <a:ext cx="10515600" cy="1188720"/>
          </a:xfrm>
          <a:prstGeom prst="rect">
            <a:avLst/>
          </a:prstGeom>
          <a:noFill/>
        </p:spPr>
        <p:txBody>
          <a:bodyPr wrap="square" lIns="0" rIns="0" tIns="0" bIns="0">
            <a:spAutoFit/>
          </a:bodyPr>
          <a:lstStyle/>
          <a:p>
            <a:pPr algn="l">
              <a:spcBef>
                <a:spcPts val="0"/>
              </a:spcBef>
              <a:spcAft>
                <a:spcPts val="200"/>
              </a:spcAft>
            </a:pPr>
            <a:r>
              <a:rPr sz="3200" b="1" i="0">
                <a:solidFill>
                  <a:srgbClr val="FFFFFF"/>
                </a:solidFill>
                <a:latin typeface="Segoe UI"/>
              </a:rPr>
              <a:t>Teaching a Camera to Notice What's Wrong</a:t>
            </a:r>
          </a:p>
        </p:txBody>
      </p:sp>
      <p:sp>
        <p:nvSpPr>
          <p:cNvPr id="5" name="Rectangle 4"/>
          <p:cNvSpPr/>
          <p:nvPr/>
        </p:nvSpPr>
        <p:spPr>
          <a:xfrm>
            <a:off x="822960" y="2331720"/>
            <a:ext cx="10515600" cy="914400"/>
          </a:xfrm>
          <a:prstGeom prst="rect">
            <a:avLst/>
          </a:prstGeom>
          <a:solidFill>
            <a:srgbClr val="1B3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2478024"/>
            <a:ext cx="10058400" cy="640080"/>
          </a:xfrm>
          <a:prstGeom prst="rect">
            <a:avLst/>
          </a:prstGeom>
          <a:noFill/>
        </p:spPr>
        <p:txBody>
          <a:bodyPr wrap="square" lIns="0" rIns="0" tIns="0" bIns="0">
            <a:spAutoFit/>
          </a:bodyPr>
          <a:lstStyle/>
          <a:p>
            <a:pPr algn="l">
              <a:spcBef>
                <a:spcPts val="0"/>
              </a:spcBef>
              <a:spcAft>
                <a:spcPts val="200"/>
              </a:spcAft>
            </a:pPr>
            <a:r>
              <a:rPr sz="1000" b="1" i="0">
                <a:solidFill>
                  <a:srgbClr val="2E86AB"/>
                </a:solidFill>
                <a:latin typeface="Segoe UI"/>
              </a:rPr>
              <a:t>THE IDEA IN ONE SENTENCE</a:t>
            </a:r>
          </a:p>
          <a:p>
            <a:pPr algn="l">
              <a:spcBef>
                <a:spcPts val="300"/>
              </a:spcBef>
              <a:spcAft>
                <a:spcPts val="200"/>
              </a:spcAft>
            </a:pPr>
            <a:r>
              <a:rPr sz="1400" b="0" i="0">
                <a:solidFill>
                  <a:srgbClr val="FFFFFF"/>
                </a:solidFill>
                <a:latin typeface="Segoe UI"/>
              </a:rPr>
              <a:t>Watch every video cheaply for most moments; call in an expensive expert only for the handful that actually look wrong.</a:t>
            </a:r>
          </a:p>
        </p:txBody>
      </p:sp>
      <p:sp>
        <p:nvSpPr>
          <p:cNvPr id="7" name="Rectangle 6"/>
          <p:cNvSpPr/>
          <p:nvPr/>
        </p:nvSpPr>
        <p:spPr>
          <a:xfrm>
            <a:off x="822960" y="3520440"/>
            <a:ext cx="3429000" cy="2331720"/>
          </a:xfrm>
          <a:prstGeom prst="rect">
            <a:avLst/>
          </a:prstGeom>
          <a:solidFill>
            <a:srgbClr val="162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24128" y="3703320"/>
            <a:ext cx="3026664" cy="2011680"/>
          </a:xfrm>
          <a:prstGeom prst="rect">
            <a:avLst/>
          </a:prstGeom>
          <a:noFill/>
        </p:spPr>
        <p:txBody>
          <a:bodyPr wrap="square" lIns="0" rIns="0" tIns="0" bIns="0">
            <a:spAutoFit/>
          </a:bodyPr>
          <a:lstStyle/>
          <a:p>
            <a:pPr algn="l">
              <a:spcBef>
                <a:spcPts val="0"/>
              </a:spcBef>
              <a:spcAft>
                <a:spcPts val="200"/>
              </a:spcAft>
            </a:pPr>
            <a:r>
              <a:rPr sz="1300" b="1" i="0">
                <a:solidFill>
                  <a:srgbClr val="FFFFFF"/>
                </a:solidFill>
                <a:latin typeface="Segoe UI"/>
              </a:rPr>
              <a:t>The everyday version</a:t>
            </a:r>
          </a:p>
          <a:p>
            <a:pPr algn="l">
              <a:spcBef>
                <a:spcPts val="600"/>
              </a:spcBef>
              <a:spcAft>
                <a:spcPts val="200"/>
              </a:spcAft>
            </a:pPr>
            <a:r>
              <a:rPr sz="1100" b="0" i="0">
                <a:solidFill>
                  <a:srgbClr val="B8C4D6"/>
                </a:solidFill>
                <a:latin typeface="Segoe UI"/>
              </a:rPr>
              <a:t>A parked car is normal. The SAME-LOOKING car stopped in a moving highway lane is not. The difference is context — where it is, and for how long — not what's in the photo.</a:t>
            </a:r>
          </a:p>
        </p:txBody>
      </p:sp>
      <p:sp>
        <p:nvSpPr>
          <p:cNvPr id="9" name="Rectangle 8"/>
          <p:cNvSpPr/>
          <p:nvPr/>
        </p:nvSpPr>
        <p:spPr>
          <a:xfrm>
            <a:off x="4361688" y="3520440"/>
            <a:ext cx="3429000" cy="2331720"/>
          </a:xfrm>
          <a:prstGeom prst="rect">
            <a:avLst/>
          </a:prstGeom>
          <a:solidFill>
            <a:srgbClr val="162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62856" y="3703320"/>
            <a:ext cx="3026664" cy="2011680"/>
          </a:xfrm>
          <a:prstGeom prst="rect">
            <a:avLst/>
          </a:prstGeom>
          <a:noFill/>
        </p:spPr>
        <p:txBody>
          <a:bodyPr wrap="square" lIns="0" rIns="0" tIns="0" bIns="0">
            <a:spAutoFit/>
          </a:bodyPr>
          <a:lstStyle/>
          <a:p>
            <a:pPr algn="l">
              <a:spcBef>
                <a:spcPts val="0"/>
              </a:spcBef>
              <a:spcAft>
                <a:spcPts val="200"/>
              </a:spcAft>
            </a:pPr>
            <a:r>
              <a:rPr sz="1300" b="1" i="0">
                <a:solidFill>
                  <a:srgbClr val="FFFFFF"/>
                </a:solidFill>
                <a:latin typeface="Segoe UI"/>
              </a:rPr>
              <a:t>The hardware version</a:t>
            </a:r>
          </a:p>
          <a:p>
            <a:pPr algn="l">
              <a:spcBef>
                <a:spcPts val="600"/>
              </a:spcBef>
              <a:spcAft>
                <a:spcPts val="200"/>
              </a:spcAft>
            </a:pPr>
            <a:r>
              <a:rPr sz="1100" b="0" i="0">
                <a:solidFill>
                  <a:srgbClr val="B8C4D6"/>
                </a:solidFill>
                <a:latin typeface="Segoe UI"/>
              </a:rPr>
              <a:t>One ordinary gaming laptop, no data-centre GPU. A 4GB graphics card is a small kitchen counter — the biggest AI models simply don't fit on it.</a:t>
            </a:r>
          </a:p>
        </p:txBody>
      </p:sp>
      <p:sp>
        <p:nvSpPr>
          <p:cNvPr id="11" name="Rectangle 10"/>
          <p:cNvSpPr/>
          <p:nvPr/>
        </p:nvSpPr>
        <p:spPr>
          <a:xfrm>
            <a:off x="7900416" y="3520440"/>
            <a:ext cx="3429000" cy="2331720"/>
          </a:xfrm>
          <a:prstGeom prst="rect">
            <a:avLst/>
          </a:prstGeom>
          <a:solidFill>
            <a:srgbClr val="162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01584" y="3703320"/>
            <a:ext cx="3026664" cy="2011680"/>
          </a:xfrm>
          <a:prstGeom prst="rect">
            <a:avLst/>
          </a:prstGeom>
          <a:noFill/>
        </p:spPr>
        <p:txBody>
          <a:bodyPr wrap="square" lIns="0" rIns="0" tIns="0" bIns="0">
            <a:spAutoFit/>
          </a:bodyPr>
          <a:lstStyle/>
          <a:p>
            <a:pPr algn="l">
              <a:spcBef>
                <a:spcPts val="0"/>
              </a:spcBef>
              <a:spcAft>
                <a:spcPts val="200"/>
              </a:spcAft>
            </a:pPr>
            <a:r>
              <a:rPr sz="1300" b="1" i="0">
                <a:solidFill>
                  <a:srgbClr val="FFFFFF"/>
                </a:solidFill>
                <a:latin typeface="Segoe UI"/>
              </a:rPr>
              <a:t>So it was two problems at once</a:t>
            </a:r>
          </a:p>
          <a:p>
            <a:pPr algn="l">
              <a:spcBef>
                <a:spcPts val="600"/>
              </a:spcBef>
              <a:spcAft>
                <a:spcPts val="200"/>
              </a:spcAft>
            </a:pPr>
            <a:r>
              <a:rPr sz="1100" b="0" i="0">
                <a:solidFill>
                  <a:srgbClr val="B8C4D6"/>
                </a:solidFill>
                <a:latin typeface="Segoe UI"/>
              </a:rPr>
              <a:t>Understand context well enough to know what's abnormal HERE, and do it cheaply enough to run constantly, on modest hardware, in real time.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BFC"/>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155680" cy="960120"/>
          </a:xfrm>
          <a:prstGeom prst="rect">
            <a:avLst/>
          </a:prstGeom>
          <a:noFill/>
        </p:spPr>
        <p:txBody>
          <a:bodyPr wrap="square" lIns="0" rIns="0" tIns="0" bIns="0">
            <a:spAutoFit/>
          </a:bodyPr>
          <a:lstStyle/>
          <a:p>
            <a:pPr algn="l">
              <a:spcBef>
                <a:spcPts val="0"/>
              </a:spcBef>
              <a:spcAft>
                <a:spcPts val="200"/>
              </a:spcAft>
            </a:pPr>
            <a:r>
              <a:rPr sz="1100" b="1" i="0">
                <a:solidFill>
                  <a:srgbClr val="2E86AB"/>
                </a:solidFill>
                <a:latin typeface="Segoe UI"/>
              </a:rPr>
              <a:t>THE ARCHITECTURE</a:t>
            </a:r>
          </a:p>
          <a:p>
            <a:pPr algn="l">
              <a:spcBef>
                <a:spcPts val="100"/>
              </a:spcBef>
              <a:spcAft>
                <a:spcPts val="200"/>
              </a:spcAft>
            </a:pPr>
            <a:r>
              <a:rPr sz="2500" b="1" i="0">
                <a:solidFill>
                  <a:srgbClr val="1A222C"/>
                </a:solidFill>
                <a:latin typeface="Segoe UI"/>
              </a:rPr>
              <a:t>Four Checkpoints, Each Cheaper Than an Expert Opinion</a:t>
            </a:r>
          </a:p>
          <a:p>
            <a:pPr algn="l">
              <a:spcBef>
                <a:spcPts val="300"/>
              </a:spcBef>
              <a:spcAft>
                <a:spcPts val="200"/>
              </a:spcAft>
            </a:pPr>
            <a:r>
              <a:rPr sz="1200" b="0" i="0">
                <a:solidFill>
                  <a:srgbClr val="5B6678"/>
                </a:solidFill>
                <a:latin typeface="Segoe UI"/>
              </a:rPr>
              <a:t>A triage line — a nurse checks everyone first; the doctor only sees who needs one.</a:t>
            </a:r>
          </a:p>
        </p:txBody>
      </p:sp>
      <p:sp>
        <p:nvSpPr>
          <p:cNvPr id="4" name="Rectangle 3"/>
          <p:cNvSpPr/>
          <p:nvPr/>
        </p:nvSpPr>
        <p:spPr>
          <a:xfrm>
            <a:off x="548640" y="1243584"/>
            <a:ext cx="11091672" cy="10972"/>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444752"/>
            <a:ext cx="2670048" cy="2880360"/>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444752"/>
            <a:ext cx="2670048" cy="54864"/>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627632"/>
            <a:ext cx="2304288" cy="2560320"/>
          </a:xfrm>
          <a:prstGeom prst="rect">
            <a:avLst/>
          </a:prstGeom>
          <a:noFill/>
        </p:spPr>
        <p:txBody>
          <a:bodyPr wrap="square" lIns="0" rIns="0" tIns="0" bIns="0">
            <a:spAutoFit/>
          </a:bodyPr>
          <a:lstStyle/>
          <a:p>
            <a:pPr algn="l">
              <a:spcBef>
                <a:spcPts val="0"/>
              </a:spcBef>
              <a:spcAft>
                <a:spcPts val="200"/>
              </a:spcAft>
            </a:pPr>
            <a:r>
              <a:rPr sz="950" b="1" i="0">
                <a:solidFill>
                  <a:srgbClr val="2E86AB"/>
                </a:solidFill>
                <a:latin typeface="Segoe UI"/>
              </a:rPr>
              <a:t>1 · EVERY FRAME</a:t>
            </a:r>
          </a:p>
          <a:p>
            <a:pPr algn="l">
              <a:spcBef>
                <a:spcPts val="700"/>
              </a:spcBef>
              <a:spcAft>
                <a:spcPts val="200"/>
              </a:spcAft>
            </a:pPr>
            <a:r>
              <a:rPr sz="1300" b="1" i="1">
                <a:solidFill>
                  <a:srgbClr val="1A222C"/>
                </a:solidFill>
                <a:latin typeface="Segoe UI"/>
              </a:rPr>
              <a:t>"What's here, and where?"</a:t>
            </a:r>
          </a:p>
          <a:p>
            <a:pPr algn="l">
              <a:spcBef>
                <a:spcPts val="900"/>
              </a:spcBef>
              <a:spcAft>
                <a:spcPts val="200"/>
              </a:spcAft>
            </a:pPr>
            <a:r>
              <a:rPr sz="1050" b="0" i="0">
                <a:solidFill>
                  <a:srgbClr val="5B6678"/>
                </a:solidFill>
                <a:latin typeface="Segoe UI"/>
              </a:rPr>
              <a:t>A small, fast detector draws a box around every vehicle and person and gives each one an ID it keeps across frames — retrained on overhead drone footage, since street-level training missed most objects seen from altitude.</a:t>
            </a:r>
          </a:p>
        </p:txBody>
      </p:sp>
      <p:sp>
        <p:nvSpPr>
          <p:cNvPr id="8" name="TextBox 7"/>
          <p:cNvSpPr txBox="1"/>
          <p:nvPr/>
        </p:nvSpPr>
        <p:spPr>
          <a:xfrm>
            <a:off x="3227832" y="2724912"/>
            <a:ext cx="164592" cy="274320"/>
          </a:xfrm>
          <a:prstGeom prst="rect">
            <a:avLst/>
          </a:prstGeom>
          <a:noFill/>
        </p:spPr>
        <p:txBody>
          <a:bodyPr wrap="square" lIns="0" rIns="0" tIns="0" bIns="0">
            <a:spAutoFit/>
          </a:bodyPr>
          <a:lstStyle/>
          <a:p>
            <a:pPr algn="ctr">
              <a:spcBef>
                <a:spcPts val="0"/>
              </a:spcBef>
              <a:spcAft>
                <a:spcPts val="200"/>
              </a:spcAft>
            </a:pPr>
            <a:r>
              <a:rPr sz="1800" b="1" i="0">
                <a:solidFill>
                  <a:srgbClr val="D8DEE6"/>
                </a:solidFill>
                <a:latin typeface="Segoe UI"/>
              </a:rPr>
              <a:t>›</a:t>
            </a:r>
          </a:p>
        </p:txBody>
      </p:sp>
      <p:sp>
        <p:nvSpPr>
          <p:cNvPr id="9" name="Rectangle 8"/>
          <p:cNvSpPr/>
          <p:nvPr/>
        </p:nvSpPr>
        <p:spPr>
          <a:xfrm>
            <a:off x="3383280" y="1444752"/>
            <a:ext cx="2670048" cy="2880360"/>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383280" y="1444752"/>
            <a:ext cx="2670048" cy="54864"/>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66160" y="1627632"/>
            <a:ext cx="2304288" cy="2560320"/>
          </a:xfrm>
          <a:prstGeom prst="rect">
            <a:avLst/>
          </a:prstGeom>
          <a:noFill/>
        </p:spPr>
        <p:txBody>
          <a:bodyPr wrap="square" lIns="0" rIns="0" tIns="0" bIns="0">
            <a:spAutoFit/>
          </a:bodyPr>
          <a:lstStyle/>
          <a:p>
            <a:pPr algn="l">
              <a:spcBef>
                <a:spcPts val="0"/>
              </a:spcBef>
              <a:spcAft>
                <a:spcPts val="200"/>
              </a:spcAft>
            </a:pPr>
            <a:r>
              <a:rPr sz="950" b="1" i="0">
                <a:solidFill>
                  <a:srgbClr val="2E86AB"/>
                </a:solidFill>
                <a:latin typeface="Segoe UI"/>
              </a:rPr>
              <a:t>2 · EVERY FRAME, NO AI</a:t>
            </a:r>
          </a:p>
          <a:p>
            <a:pPr algn="l">
              <a:spcBef>
                <a:spcPts val="700"/>
              </a:spcBef>
              <a:spcAft>
                <a:spcPts val="200"/>
              </a:spcAft>
            </a:pPr>
            <a:r>
              <a:rPr sz="1300" b="1" i="1">
                <a:solidFill>
                  <a:srgbClr val="1A222C"/>
                </a:solidFill>
                <a:latin typeface="Segoe UI"/>
              </a:rPr>
              <a:t>"Has it been sitting too long?"</a:t>
            </a:r>
          </a:p>
          <a:p>
            <a:pPr algn="l">
              <a:spcBef>
                <a:spcPts val="900"/>
              </a:spcBef>
              <a:spcAft>
                <a:spcPts val="200"/>
              </a:spcAft>
            </a:pPr>
            <a:r>
              <a:rPr sz="1050" b="0" i="0">
                <a:solidFill>
                  <a:srgbClr val="5B6678"/>
                </a:solidFill>
                <a:latin typeface="Segoe UI"/>
              </a:rPr>
              <a:t>Pure counting: how many seconds has this ID stayed put, how fast is it moving, which zone is it in. A stopwatch and a map — checkable facts, not a model's guess. This is what decides yes/no.</a:t>
            </a:r>
          </a:p>
        </p:txBody>
      </p:sp>
      <p:sp>
        <p:nvSpPr>
          <p:cNvPr id="12" name="TextBox 11"/>
          <p:cNvSpPr txBox="1"/>
          <p:nvPr/>
        </p:nvSpPr>
        <p:spPr>
          <a:xfrm>
            <a:off x="6062472" y="2724912"/>
            <a:ext cx="164592" cy="274320"/>
          </a:xfrm>
          <a:prstGeom prst="rect">
            <a:avLst/>
          </a:prstGeom>
          <a:noFill/>
        </p:spPr>
        <p:txBody>
          <a:bodyPr wrap="square" lIns="0" rIns="0" tIns="0" bIns="0">
            <a:spAutoFit/>
          </a:bodyPr>
          <a:lstStyle/>
          <a:p>
            <a:pPr algn="ctr">
              <a:spcBef>
                <a:spcPts val="0"/>
              </a:spcBef>
              <a:spcAft>
                <a:spcPts val="200"/>
              </a:spcAft>
            </a:pPr>
            <a:r>
              <a:rPr sz="1800" b="1" i="0">
                <a:solidFill>
                  <a:srgbClr val="D8DEE6"/>
                </a:solidFill>
                <a:latin typeface="Segoe UI"/>
              </a:rPr>
              <a:t>›</a:t>
            </a:r>
          </a:p>
        </p:txBody>
      </p:sp>
      <p:sp>
        <p:nvSpPr>
          <p:cNvPr id="13" name="Rectangle 12"/>
          <p:cNvSpPr/>
          <p:nvPr/>
        </p:nvSpPr>
        <p:spPr>
          <a:xfrm>
            <a:off x="6217920" y="1444752"/>
            <a:ext cx="2670048" cy="2880360"/>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7920" y="1444752"/>
            <a:ext cx="2670048" cy="54864"/>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627632"/>
            <a:ext cx="2304288" cy="2560320"/>
          </a:xfrm>
          <a:prstGeom prst="rect">
            <a:avLst/>
          </a:prstGeom>
          <a:noFill/>
        </p:spPr>
        <p:txBody>
          <a:bodyPr wrap="square" lIns="0" rIns="0" tIns="0" bIns="0">
            <a:spAutoFit/>
          </a:bodyPr>
          <a:lstStyle/>
          <a:p>
            <a:pPr algn="l">
              <a:spcBef>
                <a:spcPts val="0"/>
              </a:spcBef>
              <a:spcAft>
                <a:spcPts val="200"/>
              </a:spcAft>
            </a:pPr>
            <a:r>
              <a:rPr sz="950" b="1" i="0">
                <a:solidFill>
                  <a:srgbClr val="2E86AB"/>
                </a:solidFill>
                <a:latin typeface="Segoe UI"/>
              </a:rPr>
              <a:t>3 · A FEW SAMPLED FRAMES</a:t>
            </a:r>
          </a:p>
          <a:p>
            <a:pPr algn="l">
              <a:spcBef>
                <a:spcPts val="700"/>
              </a:spcBef>
              <a:spcAft>
                <a:spcPts val="200"/>
              </a:spcAft>
            </a:pPr>
            <a:r>
              <a:rPr sz="1300" b="1" i="1">
                <a:solidFill>
                  <a:srgbClr val="1A222C"/>
                </a:solidFill>
                <a:latin typeface="Segoe UI"/>
              </a:rPr>
              <a:t>"Fire, smoke, a flood?"</a:t>
            </a:r>
          </a:p>
          <a:p>
            <a:pPr algn="l">
              <a:spcBef>
                <a:spcPts val="900"/>
              </a:spcBef>
              <a:spcAft>
                <a:spcPts val="200"/>
              </a:spcAft>
            </a:pPr>
            <a:r>
              <a:rPr sz="1050" b="0" i="0">
                <a:solidFill>
                  <a:srgbClr val="5B6678"/>
                </a:solidFill>
                <a:latin typeface="Segoe UI"/>
              </a:rPr>
              <a:t>A small image model glances at a handful of frames for things a SINGLE photo genuinely can show. Deliberately narrow — it never has to judge motion or duration.</a:t>
            </a:r>
          </a:p>
        </p:txBody>
      </p:sp>
      <p:sp>
        <p:nvSpPr>
          <p:cNvPr id="16" name="TextBox 15"/>
          <p:cNvSpPr txBox="1"/>
          <p:nvPr/>
        </p:nvSpPr>
        <p:spPr>
          <a:xfrm>
            <a:off x="8897112" y="2724912"/>
            <a:ext cx="164592" cy="274320"/>
          </a:xfrm>
          <a:prstGeom prst="rect">
            <a:avLst/>
          </a:prstGeom>
          <a:noFill/>
        </p:spPr>
        <p:txBody>
          <a:bodyPr wrap="square" lIns="0" rIns="0" tIns="0" bIns="0">
            <a:spAutoFit/>
          </a:bodyPr>
          <a:lstStyle/>
          <a:p>
            <a:pPr algn="ctr">
              <a:spcBef>
                <a:spcPts val="0"/>
              </a:spcBef>
              <a:spcAft>
                <a:spcPts val="200"/>
              </a:spcAft>
            </a:pPr>
            <a:r>
              <a:rPr sz="1800" b="1" i="0">
                <a:solidFill>
                  <a:srgbClr val="D8DEE6"/>
                </a:solidFill>
                <a:latin typeface="Segoe UI"/>
              </a:rPr>
              <a:t>›</a:t>
            </a:r>
          </a:p>
        </p:txBody>
      </p:sp>
      <p:sp>
        <p:nvSpPr>
          <p:cNvPr id="17" name="Rectangle 16"/>
          <p:cNvSpPr/>
          <p:nvPr/>
        </p:nvSpPr>
        <p:spPr>
          <a:xfrm>
            <a:off x="9052560" y="1444752"/>
            <a:ext cx="2670048" cy="2880360"/>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052560" y="1444752"/>
            <a:ext cx="2670048" cy="54864"/>
          </a:xfrm>
          <a:prstGeom prst="rect">
            <a:avLst/>
          </a:prstGeom>
          <a:solidFill>
            <a:srgbClr val="E871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235440" y="1627632"/>
            <a:ext cx="2304288" cy="2560320"/>
          </a:xfrm>
          <a:prstGeom prst="rect">
            <a:avLst/>
          </a:prstGeom>
          <a:noFill/>
        </p:spPr>
        <p:txBody>
          <a:bodyPr wrap="square" lIns="0" rIns="0" tIns="0" bIns="0">
            <a:spAutoFit/>
          </a:bodyPr>
          <a:lstStyle/>
          <a:p>
            <a:pPr algn="l">
              <a:spcBef>
                <a:spcPts val="0"/>
              </a:spcBef>
              <a:spcAft>
                <a:spcPts val="200"/>
              </a:spcAft>
            </a:pPr>
            <a:r>
              <a:rPr sz="950" b="1" i="0">
                <a:solidFill>
                  <a:srgbClr val="E87122"/>
                </a:solidFill>
                <a:latin typeface="Segoe UI"/>
              </a:rPr>
              <a:t>4 · RARE, EXPENSIVE CALLS</a:t>
            </a:r>
          </a:p>
          <a:p>
            <a:pPr algn="l">
              <a:spcBef>
                <a:spcPts val="700"/>
              </a:spcBef>
              <a:spcAft>
                <a:spcPts val="200"/>
              </a:spcAft>
            </a:pPr>
            <a:r>
              <a:rPr sz="1300" b="1" i="1">
                <a:solidFill>
                  <a:srgbClr val="1A222C"/>
                </a:solidFill>
                <a:latin typeface="Segoe UI"/>
              </a:rPr>
              <a:t>"Expert, describe this."</a:t>
            </a:r>
          </a:p>
          <a:p>
            <a:pPr algn="l">
              <a:spcBef>
                <a:spcPts val="900"/>
              </a:spcBef>
              <a:spcAft>
                <a:spcPts val="200"/>
              </a:spcAft>
            </a:pPr>
            <a:r>
              <a:rPr sz="1050" b="0" i="0">
                <a:solidFill>
                  <a:srgbClr val="5B6678"/>
                </a:solidFill>
                <a:latin typeface="Segoe UI"/>
              </a:rPr>
              <a:t>A vision-language model — reads an image, writes a sentence — is called on well under 2% of frames: only what checkpoints 1-3 already flagged. It can raise an alarm, never silently clear one.</a:t>
            </a:r>
          </a:p>
        </p:txBody>
      </p:sp>
      <p:sp>
        <p:nvSpPr>
          <p:cNvPr id="20" name="Rectangle 19"/>
          <p:cNvSpPr/>
          <p:nvPr/>
        </p:nvSpPr>
        <p:spPr>
          <a:xfrm>
            <a:off x="548640" y="4553712"/>
            <a:ext cx="11091672" cy="1737360"/>
          </a:xfrm>
          <a:prstGeom prst="rect">
            <a:avLst/>
          </a:prstGeom>
          <a:solidFill>
            <a:srgbClr val="FDF3E9"/>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4718304"/>
            <a:ext cx="10424160" cy="1417320"/>
          </a:xfrm>
          <a:prstGeom prst="rect">
            <a:avLst/>
          </a:prstGeom>
          <a:noFill/>
        </p:spPr>
        <p:txBody>
          <a:bodyPr wrap="square" lIns="0" rIns="0" tIns="0" bIns="0">
            <a:spAutoFit/>
          </a:bodyPr>
          <a:lstStyle/>
          <a:p>
            <a:pPr algn="l">
              <a:spcBef>
                <a:spcPts val="0"/>
              </a:spcBef>
              <a:spcAft>
                <a:spcPts val="200"/>
              </a:spcAft>
            </a:pPr>
            <a:r>
              <a:rPr sz="1050" b="1" i="0">
                <a:solidFill>
                  <a:srgbClr val="E87122"/>
                </a:solidFill>
                <a:latin typeface="Segoe UI"/>
              </a:rPr>
              <a:t>WHY THIS ORDER, AND WHY WE CHOSE IT</a:t>
            </a:r>
          </a:p>
          <a:p>
            <a:pPr algn="l">
              <a:spcBef>
                <a:spcPts val="500"/>
              </a:spcBef>
              <a:spcAft>
                <a:spcPts val="200"/>
              </a:spcAft>
            </a:pPr>
            <a:r>
              <a:rPr sz="1150" b="0" i="0">
                <a:solidFill>
                  <a:srgbClr val="1A222C"/>
                </a:solidFill>
                <a:latin typeface="Segoe UI"/>
              </a:rPr>
              <a:t>Each checkpoint only handles what the ones before it couldn't rule out — by the time the expensive expert runs, three free filters already threw away almost everything unremarkable. It also follows one hard fact: a still photo cannot show motion. A moving car and a stopped one are pixel-identical in one frame. Asked directly, our expert model judged motion correctly only as often as a coin flip — so the yes/no decision moved to counting (checkpoint 2), which can measure duration with total reliability, and the AI's job narrowed to "describe what you see", which it's genuinely good at.</a:t>
            </a:r>
          </a:p>
        </p:txBody>
      </p:sp>
      <p:sp>
        <p:nvSpPr>
          <p:cNvPr id="22" name="TextBox 21"/>
          <p:cNvSpPr txBox="1"/>
          <p:nvPr/>
        </p:nvSpPr>
        <p:spPr>
          <a:xfrm>
            <a:off x="548640" y="6547104"/>
            <a:ext cx="11091672" cy="274320"/>
          </a:xfrm>
          <a:prstGeom prst="rect">
            <a:avLst/>
          </a:prstGeom>
          <a:noFill/>
        </p:spPr>
        <p:txBody>
          <a:bodyPr wrap="square" lIns="0" rIns="0" tIns="0" bIns="0">
            <a:spAutoFit/>
          </a:bodyPr>
          <a:lstStyle/>
          <a:p>
            <a:pPr algn="l">
              <a:spcBef>
                <a:spcPts val="0"/>
              </a:spcBef>
              <a:spcAft>
                <a:spcPts val="200"/>
              </a:spcAft>
            </a:pPr>
            <a:r>
              <a:rPr sz="950" b="0" i="0">
                <a:solidFill>
                  <a:srgbClr val="8A93A3"/>
                </a:solidFill>
                <a:latin typeface="Segoe UI"/>
              </a:rPr>
              <a:t>Visual Anomaly Detection — Converged Overview</a:t>
            </a:r>
          </a:p>
        </p:txBody>
      </p:sp>
      <p:sp>
        <p:nvSpPr>
          <p:cNvPr id="23" name="TextBox 22"/>
          <p:cNvSpPr txBox="1"/>
          <p:nvPr/>
        </p:nvSpPr>
        <p:spPr>
          <a:xfrm>
            <a:off x="548640" y="6547104"/>
            <a:ext cx="11091672" cy="274320"/>
          </a:xfrm>
          <a:prstGeom prst="rect">
            <a:avLst/>
          </a:prstGeom>
          <a:noFill/>
        </p:spPr>
        <p:txBody>
          <a:bodyPr wrap="square" lIns="0" rIns="0" tIns="0" bIns="0">
            <a:spAutoFit/>
          </a:bodyPr>
          <a:lstStyle/>
          <a:p>
            <a:pPr algn="r">
              <a:spcBef>
                <a:spcPts val="0"/>
              </a:spcBef>
              <a:spcAft>
                <a:spcPts val="200"/>
              </a:spcAft>
            </a:pPr>
            <a:r>
              <a:rPr sz="950" b="0" i="0">
                <a:solidFill>
                  <a:srgbClr val="8A93A3"/>
                </a:solidFill>
                <a:latin typeface="Segoe UI"/>
              </a:rPr>
              <a:t>2 / 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BFC"/>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155680" cy="960120"/>
          </a:xfrm>
          <a:prstGeom prst="rect">
            <a:avLst/>
          </a:prstGeom>
          <a:noFill/>
        </p:spPr>
        <p:txBody>
          <a:bodyPr wrap="square" lIns="0" rIns="0" tIns="0" bIns="0">
            <a:spAutoFit/>
          </a:bodyPr>
          <a:lstStyle/>
          <a:p>
            <a:pPr algn="l">
              <a:spcBef>
                <a:spcPts val="0"/>
              </a:spcBef>
              <a:spcAft>
                <a:spcPts val="200"/>
              </a:spcAft>
            </a:pPr>
            <a:r>
              <a:rPr sz="1100" b="1" i="0">
                <a:solidFill>
                  <a:srgbClr val="2E86AB"/>
                </a:solidFill>
                <a:latin typeface="Segoe UI"/>
              </a:rPr>
              <a:t>THE REASONING, STEP BY STEP</a:t>
            </a:r>
          </a:p>
          <a:p>
            <a:pPr algn="l">
              <a:spcBef>
                <a:spcPts val="100"/>
              </a:spcBef>
              <a:spcAft>
                <a:spcPts val="200"/>
              </a:spcAft>
            </a:pPr>
            <a:r>
              <a:rPr sz="2500" b="1" i="0">
                <a:solidFill>
                  <a:srgbClr val="1A222C"/>
                </a:solidFill>
                <a:latin typeface="Segoe UI"/>
              </a:rPr>
              <a:t>Every Design Choice Had a Concrete Reason</a:t>
            </a:r>
          </a:p>
          <a:p>
            <a:pPr algn="l">
              <a:spcBef>
                <a:spcPts val="300"/>
              </a:spcBef>
              <a:spcAft>
                <a:spcPts val="200"/>
              </a:spcAft>
            </a:pPr>
            <a:r>
              <a:rPr sz="1200" b="0" i="0">
                <a:solidFill>
                  <a:srgbClr val="5B6678"/>
                </a:solidFill>
                <a:latin typeface="Segoe UI"/>
              </a:rPr>
              <a:t>Not "best practice" — a specific problem we hit, and the fix that followed.</a:t>
            </a:r>
          </a:p>
        </p:txBody>
      </p:sp>
      <p:sp>
        <p:nvSpPr>
          <p:cNvPr id="4" name="Rectangle 3"/>
          <p:cNvSpPr/>
          <p:nvPr/>
        </p:nvSpPr>
        <p:spPr>
          <a:xfrm>
            <a:off x="548640" y="1243584"/>
            <a:ext cx="11091672" cy="10972"/>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426464"/>
            <a:ext cx="11091672" cy="886968"/>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517904"/>
            <a:ext cx="457200" cy="457200"/>
          </a:xfrm>
          <a:prstGeom prst="rect">
            <a:avLst/>
          </a:prstGeom>
          <a:noFill/>
        </p:spPr>
        <p:txBody>
          <a:bodyPr wrap="square" lIns="0" rIns="0" tIns="0" bIns="0">
            <a:spAutoFit/>
          </a:bodyPr>
          <a:lstStyle/>
          <a:p>
            <a:pPr algn="l">
              <a:spcBef>
                <a:spcPts val="0"/>
              </a:spcBef>
              <a:spcAft>
                <a:spcPts val="200"/>
              </a:spcAft>
            </a:pPr>
            <a:r>
              <a:rPr sz="1700" b="1" i="0">
                <a:solidFill>
                  <a:srgbClr val="2E86AB"/>
                </a:solidFill>
                <a:latin typeface="Segoe UI"/>
              </a:rPr>
              <a:t>1</a:t>
            </a:r>
          </a:p>
        </p:txBody>
      </p:sp>
      <p:sp>
        <p:nvSpPr>
          <p:cNvPr id="7" name="TextBox 6"/>
          <p:cNvSpPr txBox="1"/>
          <p:nvPr/>
        </p:nvSpPr>
        <p:spPr>
          <a:xfrm>
            <a:off x="1188720" y="1490472"/>
            <a:ext cx="10378440" cy="777240"/>
          </a:xfrm>
          <a:prstGeom prst="rect">
            <a:avLst/>
          </a:prstGeom>
          <a:noFill/>
        </p:spPr>
        <p:txBody>
          <a:bodyPr wrap="square" lIns="0" rIns="0" tIns="0" bIns="0">
            <a:spAutoFit/>
          </a:bodyPr>
          <a:lstStyle/>
          <a:p>
            <a:pPr algn="l">
              <a:spcBef>
                <a:spcPts val="0"/>
              </a:spcBef>
              <a:spcAft>
                <a:spcPts val="200"/>
              </a:spcAft>
            </a:pPr>
            <a:r>
              <a:rPr sz="1150" b="1" i="0">
                <a:solidFill>
                  <a:srgbClr val="1A222C"/>
                </a:solidFill>
                <a:latin typeface="Segoe UI"/>
              </a:rPr>
              <a:t>Camera stabilisation</a:t>
            </a:r>
          </a:p>
          <a:p>
            <a:pPr>
              <a:spcBef>
                <a:spcPts val="200"/>
              </a:spcBef>
            </a:pPr>
            <a:r>
              <a:rPr sz="960" b="1">
                <a:solidFill>
                  <a:srgbClr val="B4332E"/>
                </a:solidFill>
                <a:latin typeface="Segoe UI"/>
              </a:rPr>
              <a:t>Problem: </a:t>
            </a:r>
            <a:r>
              <a:rPr sz="960">
                <a:solidFill>
                  <a:srgbClr val="5B6678"/>
                </a:solidFill>
                <a:latin typeface="Segoe UI"/>
              </a:rPr>
              <a:t>A drone drifts in the air, so even a PARKED car appears to move across the picture.</a:t>
            </a:r>
          </a:p>
          <a:p>
            <a:pPr>
              <a:spcBef>
                <a:spcPts val="100"/>
              </a:spcBef>
            </a:pPr>
            <a:r>
              <a:rPr sz="960" b="1">
                <a:solidFill>
                  <a:srgbClr val="1B7F5A"/>
                </a:solidFill>
                <a:latin typeface="Segoe UI"/>
              </a:rPr>
              <a:t>Fix: </a:t>
            </a:r>
            <a:r>
              <a:rPr sz="960">
                <a:solidFill>
                  <a:srgbClr val="5B6678"/>
                </a:solidFill>
                <a:latin typeface="Segoe UI"/>
              </a:rPr>
              <a:t>We measure how much the whole scene shifted between frames and cancel it out first — like image stabilisation, run in reverse.</a:t>
            </a:r>
          </a:p>
        </p:txBody>
      </p:sp>
      <p:sp>
        <p:nvSpPr>
          <p:cNvPr id="8" name="Rectangle 7"/>
          <p:cNvSpPr/>
          <p:nvPr/>
        </p:nvSpPr>
        <p:spPr>
          <a:xfrm>
            <a:off x="548640" y="2368296"/>
            <a:ext cx="11091672" cy="886968"/>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94944" y="2459736"/>
            <a:ext cx="457200" cy="457200"/>
          </a:xfrm>
          <a:prstGeom prst="rect">
            <a:avLst/>
          </a:prstGeom>
          <a:noFill/>
        </p:spPr>
        <p:txBody>
          <a:bodyPr wrap="square" lIns="0" rIns="0" tIns="0" bIns="0">
            <a:spAutoFit/>
          </a:bodyPr>
          <a:lstStyle/>
          <a:p>
            <a:pPr algn="l">
              <a:spcBef>
                <a:spcPts val="0"/>
              </a:spcBef>
              <a:spcAft>
                <a:spcPts val="200"/>
              </a:spcAft>
            </a:pPr>
            <a:r>
              <a:rPr sz="1700" b="1" i="0">
                <a:solidFill>
                  <a:srgbClr val="2E86AB"/>
                </a:solidFill>
                <a:latin typeface="Segoe UI"/>
              </a:rPr>
              <a:t>2</a:t>
            </a:r>
          </a:p>
        </p:txBody>
      </p:sp>
      <p:sp>
        <p:nvSpPr>
          <p:cNvPr id="10" name="TextBox 9"/>
          <p:cNvSpPr txBox="1"/>
          <p:nvPr/>
        </p:nvSpPr>
        <p:spPr>
          <a:xfrm>
            <a:off x="1188720" y="2432304"/>
            <a:ext cx="10378440" cy="777240"/>
          </a:xfrm>
          <a:prstGeom prst="rect">
            <a:avLst/>
          </a:prstGeom>
          <a:noFill/>
        </p:spPr>
        <p:txBody>
          <a:bodyPr wrap="square" lIns="0" rIns="0" tIns="0" bIns="0">
            <a:spAutoFit/>
          </a:bodyPr>
          <a:lstStyle/>
          <a:p>
            <a:pPr algn="l">
              <a:spcBef>
                <a:spcPts val="0"/>
              </a:spcBef>
              <a:spcAft>
                <a:spcPts val="200"/>
              </a:spcAft>
            </a:pPr>
            <a:r>
              <a:rPr sz="1150" b="1" i="0">
                <a:solidFill>
                  <a:srgbClr val="1A222C"/>
                </a:solidFill>
                <a:latin typeface="Segoe UI"/>
              </a:rPr>
              <a:t>Timing over snapshots</a:t>
            </a:r>
          </a:p>
          <a:p>
            <a:pPr>
              <a:spcBef>
                <a:spcPts val="200"/>
              </a:spcBef>
            </a:pPr>
            <a:r>
              <a:rPr sz="960" b="1">
                <a:solidFill>
                  <a:srgbClr val="B4332E"/>
                </a:solidFill>
                <a:latin typeface="Segoe UI"/>
              </a:rPr>
              <a:t>Problem: </a:t>
            </a:r>
            <a:r>
              <a:rPr sz="960">
                <a:solidFill>
                  <a:srgbClr val="5B6678"/>
                </a:solidFill>
                <a:latin typeface="Segoe UI"/>
              </a:rPr>
              <a:t>A jam that clears in 5 seconds is normal; one that doesn't clear for 2 minutes is a problem — a difference no single frame can show.</a:t>
            </a:r>
          </a:p>
          <a:p>
            <a:pPr>
              <a:spcBef>
                <a:spcPts val="100"/>
              </a:spcBef>
            </a:pPr>
            <a:r>
              <a:rPr sz="960" b="1">
                <a:solidFill>
                  <a:srgbClr val="1B7F5A"/>
                </a:solidFill>
                <a:latin typeface="Segoe UI"/>
              </a:rPr>
              <a:t>Fix: </a:t>
            </a:r>
            <a:r>
              <a:rPr sz="960">
                <a:solidFill>
                  <a:srgbClr val="5B6678"/>
                </a:solidFill>
                <a:latin typeface="Segoe UI"/>
              </a:rPr>
              <a:t>The counting stage keeps a running clock per tracked object, so "how long" becomes a number we compare to a threshold.</a:t>
            </a:r>
          </a:p>
        </p:txBody>
      </p:sp>
      <p:sp>
        <p:nvSpPr>
          <p:cNvPr id="11" name="Rectangle 10"/>
          <p:cNvSpPr/>
          <p:nvPr/>
        </p:nvSpPr>
        <p:spPr>
          <a:xfrm>
            <a:off x="548640" y="3310128"/>
            <a:ext cx="11091672" cy="886968"/>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4944" y="3401568"/>
            <a:ext cx="457200" cy="457200"/>
          </a:xfrm>
          <a:prstGeom prst="rect">
            <a:avLst/>
          </a:prstGeom>
          <a:noFill/>
        </p:spPr>
        <p:txBody>
          <a:bodyPr wrap="square" lIns="0" rIns="0" tIns="0" bIns="0">
            <a:spAutoFit/>
          </a:bodyPr>
          <a:lstStyle/>
          <a:p>
            <a:pPr algn="l">
              <a:spcBef>
                <a:spcPts val="0"/>
              </a:spcBef>
              <a:spcAft>
                <a:spcPts val="200"/>
              </a:spcAft>
            </a:pPr>
            <a:r>
              <a:rPr sz="1700" b="1" i="0">
                <a:solidFill>
                  <a:srgbClr val="2E86AB"/>
                </a:solidFill>
                <a:latin typeface="Segoe UI"/>
              </a:rPr>
              <a:t>3</a:t>
            </a:r>
          </a:p>
        </p:txBody>
      </p:sp>
      <p:sp>
        <p:nvSpPr>
          <p:cNvPr id="13" name="TextBox 12"/>
          <p:cNvSpPr txBox="1"/>
          <p:nvPr/>
        </p:nvSpPr>
        <p:spPr>
          <a:xfrm>
            <a:off x="1188720" y="3374136"/>
            <a:ext cx="10378440" cy="777240"/>
          </a:xfrm>
          <a:prstGeom prst="rect">
            <a:avLst/>
          </a:prstGeom>
          <a:noFill/>
        </p:spPr>
        <p:txBody>
          <a:bodyPr wrap="square" lIns="0" rIns="0" tIns="0" bIns="0">
            <a:spAutoFit/>
          </a:bodyPr>
          <a:lstStyle/>
          <a:p>
            <a:pPr algn="l">
              <a:spcBef>
                <a:spcPts val="0"/>
              </a:spcBef>
              <a:spcAft>
                <a:spcPts val="200"/>
              </a:spcAft>
            </a:pPr>
            <a:r>
              <a:rPr sz="1150" b="1" i="0">
                <a:solidFill>
                  <a:srgbClr val="1A222C"/>
                </a:solidFill>
                <a:latin typeface="Segoe UI"/>
              </a:rPr>
              <a:t>Our own retrained detector</a:t>
            </a:r>
          </a:p>
          <a:p>
            <a:pPr>
              <a:spcBef>
                <a:spcPts val="200"/>
              </a:spcBef>
            </a:pPr>
            <a:r>
              <a:rPr sz="960" b="1">
                <a:solidFill>
                  <a:srgbClr val="B4332E"/>
                </a:solidFill>
                <a:latin typeface="Segoe UI"/>
              </a:rPr>
              <a:t>Problem: </a:t>
            </a:r>
            <a:r>
              <a:rPr sz="960">
                <a:solidFill>
                  <a:srgbClr val="5B6678"/>
                </a:solidFill>
                <a:latin typeface="Segoe UI"/>
              </a:rPr>
              <a:t>Off-the-shelf detectors, trained on eye-level photos, missed most objects seen from directly overhead.</a:t>
            </a:r>
          </a:p>
          <a:p>
            <a:pPr>
              <a:spcBef>
                <a:spcPts val="100"/>
              </a:spcBef>
            </a:pPr>
            <a:r>
              <a:rPr sz="960" b="1">
                <a:solidFill>
                  <a:srgbClr val="1B7F5A"/>
                </a:solidFill>
                <a:latin typeface="Segoe UI"/>
              </a:rPr>
              <a:t>Fix: </a:t>
            </a:r>
            <a:r>
              <a:rPr sz="960">
                <a:solidFill>
                  <a:srgbClr val="5B6678"/>
                </a:solidFill>
                <a:latin typeface="Segoe UI"/>
              </a:rPr>
              <a:t>Retrained specifically on aerial footage. How much it actually finds nearly tripled, for the cost of one training run.</a:t>
            </a:r>
          </a:p>
        </p:txBody>
      </p:sp>
      <p:sp>
        <p:nvSpPr>
          <p:cNvPr id="14" name="Rectangle 13"/>
          <p:cNvSpPr/>
          <p:nvPr/>
        </p:nvSpPr>
        <p:spPr>
          <a:xfrm>
            <a:off x="548640" y="4251960"/>
            <a:ext cx="11091672" cy="886968"/>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94944" y="4343400"/>
            <a:ext cx="457200" cy="457200"/>
          </a:xfrm>
          <a:prstGeom prst="rect">
            <a:avLst/>
          </a:prstGeom>
          <a:noFill/>
        </p:spPr>
        <p:txBody>
          <a:bodyPr wrap="square" lIns="0" rIns="0" tIns="0" bIns="0">
            <a:spAutoFit/>
          </a:bodyPr>
          <a:lstStyle/>
          <a:p>
            <a:pPr algn="l">
              <a:spcBef>
                <a:spcPts val="0"/>
              </a:spcBef>
              <a:spcAft>
                <a:spcPts val="200"/>
              </a:spcAft>
            </a:pPr>
            <a:r>
              <a:rPr sz="1700" b="1" i="0">
                <a:solidFill>
                  <a:srgbClr val="2E86AB"/>
                </a:solidFill>
                <a:latin typeface="Segoe UI"/>
              </a:rPr>
              <a:t>4</a:t>
            </a:r>
          </a:p>
        </p:txBody>
      </p:sp>
      <p:sp>
        <p:nvSpPr>
          <p:cNvPr id="16" name="TextBox 15"/>
          <p:cNvSpPr txBox="1"/>
          <p:nvPr/>
        </p:nvSpPr>
        <p:spPr>
          <a:xfrm>
            <a:off x="1188720" y="4315968"/>
            <a:ext cx="10378440" cy="777240"/>
          </a:xfrm>
          <a:prstGeom prst="rect">
            <a:avLst/>
          </a:prstGeom>
          <a:noFill/>
        </p:spPr>
        <p:txBody>
          <a:bodyPr wrap="square" lIns="0" rIns="0" tIns="0" bIns="0">
            <a:spAutoFit/>
          </a:bodyPr>
          <a:lstStyle/>
          <a:p>
            <a:pPr algn="l">
              <a:spcBef>
                <a:spcPts val="0"/>
              </a:spcBef>
              <a:spcAft>
                <a:spcPts val="200"/>
              </a:spcAft>
            </a:pPr>
            <a:r>
              <a:rPr sz="1150" b="1" i="0">
                <a:solidFill>
                  <a:srgbClr val="1A222C"/>
                </a:solidFill>
                <a:latin typeface="Segoe UI"/>
              </a:rPr>
              <a:t>The expert AI can only escalate, never clear</a:t>
            </a:r>
          </a:p>
          <a:p>
            <a:pPr>
              <a:spcBef>
                <a:spcPts val="200"/>
              </a:spcBef>
            </a:pPr>
            <a:r>
              <a:rPr sz="960" b="1">
                <a:solidFill>
                  <a:srgbClr val="B4332E"/>
                </a:solidFill>
                <a:latin typeface="Segoe UI"/>
              </a:rPr>
              <a:t>Problem: </a:t>
            </a:r>
            <a:r>
              <a:rPr sz="960">
                <a:solidFill>
                  <a:srgbClr val="5B6678"/>
                </a:solidFill>
                <a:latin typeface="Segoe UI"/>
              </a:rPr>
              <a:t>Trusting it both ways means one misread empty-looking frame could silently cancel an alert the counting stage already correctly raised.</a:t>
            </a:r>
          </a:p>
          <a:p>
            <a:pPr>
              <a:spcBef>
                <a:spcPts val="100"/>
              </a:spcBef>
            </a:pPr>
            <a:r>
              <a:rPr sz="960" b="1">
                <a:solidFill>
                  <a:srgbClr val="1B7F5A"/>
                </a:solidFill>
                <a:latin typeface="Segoe UI"/>
              </a:rPr>
              <a:t>Fix: </a:t>
            </a:r>
            <a:r>
              <a:rPr sz="960">
                <a:solidFill>
                  <a:srgbClr val="5B6678"/>
                </a:solidFill>
                <a:latin typeface="Segoe UI"/>
              </a:rPr>
              <a:t>It can make an alert MORE serious on a visible danger, but the worst it can do otherwise is add an unneeded description — never erase a real catch.</a:t>
            </a:r>
          </a:p>
        </p:txBody>
      </p:sp>
      <p:sp>
        <p:nvSpPr>
          <p:cNvPr id="17" name="Rectangle 16"/>
          <p:cNvSpPr/>
          <p:nvPr/>
        </p:nvSpPr>
        <p:spPr>
          <a:xfrm>
            <a:off x="548640" y="5193792"/>
            <a:ext cx="11091672" cy="886968"/>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4944" y="5285232"/>
            <a:ext cx="457200" cy="457200"/>
          </a:xfrm>
          <a:prstGeom prst="rect">
            <a:avLst/>
          </a:prstGeom>
          <a:noFill/>
        </p:spPr>
        <p:txBody>
          <a:bodyPr wrap="square" lIns="0" rIns="0" tIns="0" bIns="0">
            <a:spAutoFit/>
          </a:bodyPr>
          <a:lstStyle/>
          <a:p>
            <a:pPr algn="l">
              <a:spcBef>
                <a:spcPts val="0"/>
              </a:spcBef>
              <a:spcAft>
                <a:spcPts val="200"/>
              </a:spcAft>
            </a:pPr>
            <a:r>
              <a:rPr sz="1700" b="1" i="0">
                <a:solidFill>
                  <a:srgbClr val="2E86AB"/>
                </a:solidFill>
                <a:latin typeface="Segoe UI"/>
              </a:rPr>
              <a:t>5</a:t>
            </a:r>
          </a:p>
        </p:txBody>
      </p:sp>
      <p:sp>
        <p:nvSpPr>
          <p:cNvPr id="19" name="TextBox 18"/>
          <p:cNvSpPr txBox="1"/>
          <p:nvPr/>
        </p:nvSpPr>
        <p:spPr>
          <a:xfrm>
            <a:off x="1188720" y="5257800"/>
            <a:ext cx="10378440" cy="777240"/>
          </a:xfrm>
          <a:prstGeom prst="rect">
            <a:avLst/>
          </a:prstGeom>
          <a:noFill/>
        </p:spPr>
        <p:txBody>
          <a:bodyPr wrap="square" lIns="0" rIns="0" tIns="0" bIns="0">
            <a:spAutoFit/>
          </a:bodyPr>
          <a:lstStyle/>
          <a:p>
            <a:pPr algn="l">
              <a:spcBef>
                <a:spcPts val="0"/>
              </a:spcBef>
              <a:spcAft>
                <a:spcPts val="200"/>
              </a:spcAft>
            </a:pPr>
            <a:r>
              <a:rPr sz="1150" b="1" i="0">
                <a:solidFill>
                  <a:srgbClr val="1A222C"/>
                </a:solidFill>
                <a:latin typeface="Segoe UI"/>
              </a:rPr>
              <a:t>We refused to tune against the one test set we could see</a:t>
            </a:r>
          </a:p>
          <a:p>
            <a:pPr>
              <a:spcBef>
                <a:spcPts val="200"/>
              </a:spcBef>
            </a:pPr>
            <a:r>
              <a:rPr sz="960" b="1">
                <a:solidFill>
                  <a:srgbClr val="B4332E"/>
                </a:solidFill>
                <a:latin typeface="Segoe UI"/>
              </a:rPr>
              <a:t>Problem: </a:t>
            </a:r>
            <a:r>
              <a:rPr sz="960">
                <a:solidFill>
                  <a:srgbClr val="5B6678"/>
                </a:solidFill>
                <a:latin typeface="Segoe UI"/>
              </a:rPr>
              <a:t>It's tempting to nudge settings until they score perfectly on visible videos — but that number stops meaning anything on videos never seen.</a:t>
            </a:r>
          </a:p>
          <a:p>
            <a:pPr>
              <a:spcBef>
                <a:spcPts val="100"/>
              </a:spcBef>
            </a:pPr>
            <a:r>
              <a:rPr sz="960" b="1">
                <a:solidFill>
                  <a:srgbClr val="1B7F5A"/>
                </a:solidFill>
                <a:latin typeface="Segoe UI"/>
              </a:rPr>
              <a:t>Fix: </a:t>
            </a:r>
            <a:r>
              <a:rPr sz="960">
                <a:solidFill>
                  <a:srgbClr val="5B6678"/>
                </a:solidFill>
                <a:latin typeface="Segoe UI"/>
              </a:rPr>
              <a:t>Every tuning idea was checked against held-out videos it hadn't touched. Several that looked great on visible data got measurably worse held-out, and were dropped.</a:t>
            </a:r>
          </a:p>
        </p:txBody>
      </p:sp>
      <p:sp>
        <p:nvSpPr>
          <p:cNvPr id="20" name="TextBox 19"/>
          <p:cNvSpPr txBox="1"/>
          <p:nvPr/>
        </p:nvSpPr>
        <p:spPr>
          <a:xfrm>
            <a:off x="548640" y="6547104"/>
            <a:ext cx="11091672" cy="274320"/>
          </a:xfrm>
          <a:prstGeom prst="rect">
            <a:avLst/>
          </a:prstGeom>
          <a:noFill/>
        </p:spPr>
        <p:txBody>
          <a:bodyPr wrap="square" lIns="0" rIns="0" tIns="0" bIns="0">
            <a:spAutoFit/>
          </a:bodyPr>
          <a:lstStyle/>
          <a:p>
            <a:pPr algn="l">
              <a:spcBef>
                <a:spcPts val="0"/>
              </a:spcBef>
              <a:spcAft>
                <a:spcPts val="200"/>
              </a:spcAft>
            </a:pPr>
            <a:r>
              <a:rPr sz="950" b="0" i="0">
                <a:solidFill>
                  <a:srgbClr val="8A93A3"/>
                </a:solidFill>
                <a:latin typeface="Segoe UI"/>
              </a:rPr>
              <a:t>Visual Anomaly Detection — Converged Overview</a:t>
            </a:r>
          </a:p>
        </p:txBody>
      </p:sp>
      <p:sp>
        <p:nvSpPr>
          <p:cNvPr id="21" name="TextBox 20"/>
          <p:cNvSpPr txBox="1"/>
          <p:nvPr/>
        </p:nvSpPr>
        <p:spPr>
          <a:xfrm>
            <a:off x="548640" y="6547104"/>
            <a:ext cx="11091672" cy="274320"/>
          </a:xfrm>
          <a:prstGeom prst="rect">
            <a:avLst/>
          </a:prstGeom>
          <a:noFill/>
        </p:spPr>
        <p:txBody>
          <a:bodyPr wrap="square" lIns="0" rIns="0" tIns="0" bIns="0">
            <a:spAutoFit/>
          </a:bodyPr>
          <a:lstStyle/>
          <a:p>
            <a:pPr algn="r">
              <a:spcBef>
                <a:spcPts val="0"/>
              </a:spcBef>
              <a:spcAft>
                <a:spcPts val="200"/>
              </a:spcAft>
            </a:pPr>
            <a:r>
              <a:rPr sz="950" b="0" i="0">
                <a:solidFill>
                  <a:srgbClr val="8A93A3"/>
                </a:solidFill>
                <a:latin typeface="Segoe UI"/>
              </a:rPr>
              <a:t>3 / 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BFC"/>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155680" cy="960120"/>
          </a:xfrm>
          <a:prstGeom prst="rect">
            <a:avLst/>
          </a:prstGeom>
          <a:noFill/>
        </p:spPr>
        <p:txBody>
          <a:bodyPr wrap="square" lIns="0" rIns="0" tIns="0" bIns="0">
            <a:spAutoFit/>
          </a:bodyPr>
          <a:lstStyle/>
          <a:p>
            <a:pPr algn="l">
              <a:spcBef>
                <a:spcPts val="0"/>
              </a:spcBef>
              <a:spcAft>
                <a:spcPts val="200"/>
              </a:spcAft>
            </a:pPr>
            <a:r>
              <a:rPr sz="1100" b="1" i="0">
                <a:solidFill>
                  <a:srgbClr val="2E86AB"/>
                </a:solidFill>
                <a:latin typeface="Segoe UI"/>
              </a:rPr>
              <a:t>RESULTS &amp; AN HONEST DEAD END</a:t>
            </a:r>
          </a:p>
          <a:p>
            <a:pPr algn="l">
              <a:spcBef>
                <a:spcPts val="100"/>
              </a:spcBef>
              <a:spcAft>
                <a:spcPts val="200"/>
              </a:spcAft>
            </a:pPr>
            <a:r>
              <a:rPr sz="2500" b="1" i="0">
                <a:solidFill>
                  <a:srgbClr val="1A222C"/>
                </a:solidFill>
                <a:latin typeface="Segoe UI"/>
              </a:rPr>
              <a:t>What Works, What Doesn't, and One Idea We Killed</a:t>
            </a:r>
          </a:p>
          <a:p>
            <a:pPr algn="l">
              <a:spcBef>
                <a:spcPts val="300"/>
              </a:spcBef>
              <a:spcAft>
                <a:spcPts val="200"/>
              </a:spcAft>
            </a:pPr>
            <a:r>
              <a:rPr sz="1200" b="0" i="0">
                <a:solidFill>
                  <a:srgbClr val="5B6678"/>
                </a:solidFill>
                <a:latin typeface="Segoe UI"/>
              </a:rPr>
              <a:t>Every number below is measured, not claimed.</a:t>
            </a:r>
          </a:p>
        </p:txBody>
      </p:sp>
      <p:sp>
        <p:nvSpPr>
          <p:cNvPr id="4" name="Rectangle 3"/>
          <p:cNvSpPr/>
          <p:nvPr/>
        </p:nvSpPr>
        <p:spPr>
          <a:xfrm>
            <a:off x="548640" y="1243584"/>
            <a:ext cx="11091672" cy="10972"/>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426464"/>
            <a:ext cx="5440680" cy="2423160"/>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1591056"/>
            <a:ext cx="4937760" cy="2103120"/>
          </a:xfrm>
          <a:prstGeom prst="rect">
            <a:avLst/>
          </a:prstGeom>
          <a:noFill/>
        </p:spPr>
        <p:txBody>
          <a:bodyPr wrap="square" lIns="0" rIns="0" tIns="0" bIns="0">
            <a:spAutoFit/>
          </a:bodyPr>
          <a:lstStyle/>
          <a:p>
            <a:pPr algn="l">
              <a:spcBef>
                <a:spcPts val="0"/>
              </a:spcBef>
              <a:spcAft>
                <a:spcPts val="200"/>
              </a:spcAft>
            </a:pPr>
            <a:r>
              <a:rPr sz="1050" b="1" i="0">
                <a:solidFill>
                  <a:srgbClr val="2E86AB"/>
                </a:solidFill>
                <a:latin typeface="Segoe UI"/>
              </a:rPr>
              <a:t>SPEED &amp; ACCURACY</a:t>
            </a:r>
          </a:p>
          <a:p>
            <a:pPr algn="l">
              <a:spcBef>
                <a:spcPts val="600"/>
              </a:spcBef>
              <a:spcAft>
                <a:spcPts val="200"/>
              </a:spcAft>
            </a:pPr>
            <a:r>
              <a:rPr sz="1150" b="0" i="0">
                <a:solidFill>
                  <a:srgbClr val="5B6678"/>
                </a:solidFill>
                <a:latin typeface="Segoe UI"/>
              </a:rPr>
              <a:t>Fast enough to watch live video as it happens: ~15 frames a second on a modest laptop card, against the ~12-13 needed to look current.</a:t>
            </a:r>
          </a:p>
          <a:p>
            <a:pPr algn="l">
              <a:spcBef>
                <a:spcPts val="800"/>
              </a:spcBef>
              <a:spcAft>
                <a:spcPts val="200"/>
              </a:spcAft>
            </a:pPr>
            <a:r>
              <a:rPr sz="1150" b="0" i="0">
                <a:solidFill>
                  <a:srgbClr val="5B6678"/>
                </a:solidFill>
                <a:latin typeface="Segoe UI"/>
              </a:rPr>
              <a:t>Solid at WHICH category of problem occurred on short clips. Weaker at pinpointing the exact start/end moment inside long videos — that needs a kind of cross-time memory our fastest component doesn't have.</a:t>
            </a:r>
          </a:p>
        </p:txBody>
      </p:sp>
      <p:sp>
        <p:nvSpPr>
          <p:cNvPr id="7" name="Rectangle 6"/>
          <p:cNvSpPr/>
          <p:nvPr/>
        </p:nvSpPr>
        <p:spPr>
          <a:xfrm>
            <a:off x="6199632" y="1426464"/>
            <a:ext cx="5440680" cy="2423160"/>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55664" y="1591056"/>
            <a:ext cx="4937760" cy="2103120"/>
          </a:xfrm>
          <a:prstGeom prst="rect">
            <a:avLst/>
          </a:prstGeom>
          <a:noFill/>
        </p:spPr>
        <p:txBody>
          <a:bodyPr wrap="square" lIns="0" rIns="0" tIns="0" bIns="0">
            <a:spAutoFit/>
          </a:bodyPr>
          <a:lstStyle/>
          <a:p>
            <a:pPr algn="l">
              <a:spcBef>
                <a:spcPts val="0"/>
              </a:spcBef>
              <a:spcAft>
                <a:spcPts val="200"/>
              </a:spcAft>
            </a:pPr>
            <a:r>
              <a:rPr sz="1050" b="1" i="0">
                <a:solidFill>
                  <a:srgbClr val="2E86AB"/>
                </a:solidFill>
                <a:latin typeface="Segoe UI"/>
              </a:rPr>
              <a:t>ARENA SCOREBOARD</a:t>
            </a:r>
          </a:p>
        </p:txBody>
      </p:sp>
      <p:sp>
        <p:nvSpPr>
          <p:cNvPr id="9" name="TextBox 8"/>
          <p:cNvSpPr txBox="1"/>
          <p:nvPr/>
        </p:nvSpPr>
        <p:spPr>
          <a:xfrm>
            <a:off x="6455664" y="1901952"/>
            <a:ext cx="4937760" cy="329184"/>
          </a:xfrm>
          <a:prstGeom prst="rect">
            <a:avLst/>
          </a:prstGeom>
          <a:noFill/>
        </p:spPr>
        <p:txBody>
          <a:bodyPr wrap="square" lIns="0" rIns="0" tIns="0" bIns="0">
            <a:spAutoFit/>
          </a:bodyPr>
          <a:lstStyle/>
          <a:p>
            <a:r>
              <a:rPr sz="1200">
                <a:solidFill>
                  <a:srgbClr val="1A222C"/>
                </a:solidFill>
                <a:latin typeface="Segoe UI"/>
              </a:rPr>
              <a:t>Clip classification</a:t>
            </a:r>
            <a:r>
              <a:rPr sz="1250" b="1">
                <a:solidFill>
                  <a:srgbClr val="1B7F5A"/>
                </a:solidFill>
                <a:latin typeface="Segoe UI"/>
              </a:rPr>
              <a:t>     70% correct</a:t>
            </a:r>
          </a:p>
        </p:txBody>
      </p:sp>
      <p:sp>
        <p:nvSpPr>
          <p:cNvPr id="10" name="TextBox 9"/>
          <p:cNvSpPr txBox="1"/>
          <p:nvPr/>
        </p:nvSpPr>
        <p:spPr>
          <a:xfrm>
            <a:off x="6455664" y="2267712"/>
            <a:ext cx="4937760" cy="329184"/>
          </a:xfrm>
          <a:prstGeom prst="rect">
            <a:avLst/>
          </a:prstGeom>
          <a:noFill/>
        </p:spPr>
        <p:txBody>
          <a:bodyPr wrap="square" lIns="0" rIns="0" tIns="0" bIns="0">
            <a:spAutoFit/>
          </a:bodyPr>
          <a:lstStyle/>
          <a:p>
            <a:r>
              <a:rPr sz="1200">
                <a:solidFill>
                  <a:srgbClr val="1A222C"/>
                </a:solidFill>
                <a:latin typeface="Segoe UI"/>
              </a:rPr>
              <a:t>When it happens (short)</a:t>
            </a:r>
            <a:r>
              <a:rPr sz="1250" b="1">
                <a:solidFill>
                  <a:srgbClr val="1B7F5A"/>
                </a:solidFill>
                <a:latin typeface="Segoe UI"/>
              </a:rPr>
              <a:t>     72% correct</a:t>
            </a:r>
          </a:p>
        </p:txBody>
      </p:sp>
      <p:sp>
        <p:nvSpPr>
          <p:cNvPr id="11" name="TextBox 10"/>
          <p:cNvSpPr txBox="1"/>
          <p:nvPr/>
        </p:nvSpPr>
        <p:spPr>
          <a:xfrm>
            <a:off x="6455664" y="2633472"/>
            <a:ext cx="4937760" cy="329184"/>
          </a:xfrm>
          <a:prstGeom prst="rect">
            <a:avLst/>
          </a:prstGeom>
          <a:noFill/>
        </p:spPr>
        <p:txBody>
          <a:bodyPr wrap="square" lIns="0" rIns="0" tIns="0" bIns="0">
            <a:spAutoFit/>
          </a:bodyPr>
          <a:lstStyle/>
          <a:p>
            <a:r>
              <a:rPr sz="1200">
                <a:solidFill>
                  <a:srgbClr val="1A222C"/>
                </a:solidFill>
                <a:latin typeface="Segoe UI"/>
              </a:rPr>
              <a:t>When it happens (long)</a:t>
            </a:r>
            <a:r>
              <a:rPr sz="1250" b="1">
                <a:solidFill>
                  <a:srgbClr val="B4332E"/>
                </a:solidFill>
                <a:latin typeface="Segoe UI"/>
              </a:rPr>
              <a:t>     20% correct</a:t>
            </a:r>
          </a:p>
        </p:txBody>
      </p:sp>
      <p:sp>
        <p:nvSpPr>
          <p:cNvPr id="12" name="TextBox 11"/>
          <p:cNvSpPr txBox="1"/>
          <p:nvPr/>
        </p:nvSpPr>
        <p:spPr>
          <a:xfrm>
            <a:off x="6455664" y="3163824"/>
            <a:ext cx="4937760" cy="548640"/>
          </a:xfrm>
          <a:prstGeom prst="rect">
            <a:avLst/>
          </a:prstGeom>
          <a:noFill/>
        </p:spPr>
        <p:txBody>
          <a:bodyPr wrap="square" lIns="0" rIns="0" tIns="0" bIns="0">
            <a:spAutoFit/>
          </a:bodyPr>
          <a:lstStyle/>
          <a:p>
            <a:pPr algn="l">
              <a:spcBef>
                <a:spcPts val="0"/>
              </a:spcBef>
              <a:spcAft>
                <a:spcPts val="200"/>
              </a:spcAft>
            </a:pPr>
            <a:r>
              <a:rPr sz="1050" b="0" i="0">
                <a:solidFill>
                  <a:srgbClr val="5B6678"/>
                </a:solidFill>
                <a:latin typeface="Segoe UI"/>
              </a:rPr>
              <a:t>We built a tool that recalculates our score exactly like the official scoreboard, before every submission — no guessing.</a:t>
            </a:r>
          </a:p>
        </p:txBody>
      </p:sp>
      <p:sp>
        <p:nvSpPr>
          <p:cNvPr id="13" name="Rectangle 12"/>
          <p:cNvSpPr/>
          <p:nvPr/>
        </p:nvSpPr>
        <p:spPr>
          <a:xfrm>
            <a:off x="548640" y="4041648"/>
            <a:ext cx="11091672" cy="2148840"/>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4041648"/>
            <a:ext cx="54864" cy="2148840"/>
          </a:xfrm>
          <a:prstGeom prst="rect">
            <a:avLst/>
          </a:prstGeom>
          <a:solidFill>
            <a:srgbClr val="B433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4206240"/>
            <a:ext cx="10424160" cy="1828800"/>
          </a:xfrm>
          <a:prstGeom prst="rect">
            <a:avLst/>
          </a:prstGeom>
          <a:noFill/>
        </p:spPr>
        <p:txBody>
          <a:bodyPr wrap="square" lIns="0" rIns="0" tIns="0" bIns="0">
            <a:spAutoFit/>
          </a:bodyPr>
          <a:lstStyle/>
          <a:p>
            <a:pPr algn="l">
              <a:spcBef>
                <a:spcPts val="0"/>
              </a:spcBef>
              <a:spcAft>
                <a:spcPts val="200"/>
              </a:spcAft>
            </a:pPr>
            <a:r>
              <a:rPr sz="1050" b="1" i="0">
                <a:solidFill>
                  <a:srgbClr val="B4332E"/>
                </a:solidFill>
                <a:latin typeface="Segoe UI"/>
              </a:rPr>
              <a:t>WHAT WE TRIED AND DID NOT KEEP</a:t>
            </a:r>
          </a:p>
          <a:p>
            <a:pPr algn="l">
              <a:spcBef>
                <a:spcPts val="600"/>
              </a:spcBef>
              <a:spcAft>
                <a:spcPts val="200"/>
              </a:spcAft>
            </a:pPr>
            <a:r>
              <a:rPr sz="1200" b="0" i="0">
                <a:solidFill>
                  <a:srgbClr val="1A222C"/>
                </a:solidFill>
                <a:latin typeface="Segoe UI"/>
              </a:rPr>
              <a:t>The idea: since a still frame can't show motion, feed the model the DIFFERENCE between frames instead — anything not moving cancels to black.</a:t>
            </a:r>
          </a:p>
          <a:p>
            <a:pPr algn="l">
              <a:spcBef>
                <a:spcPts val="600"/>
              </a:spcBef>
              <a:spcAft>
                <a:spcPts val="200"/>
              </a:spcAft>
            </a:pPr>
            <a:r>
              <a:rPr sz="1200" b="0" i="0">
                <a:solidFill>
                  <a:srgbClr val="5B6678"/>
                </a:solidFill>
                <a:latin typeface="Segoe UI"/>
              </a:rPr>
              <a:t>What we measured: on a 6-minute video where only 2% was truly anomalous, the new model flagged 100% of it — worse than before. In a scene full of ordinary moving traffic, almost everything is "moving" all the time, so the real clue (one person standing unusually still) never stood out any more than it did in a plain photo. We measured it honestly, saw it made things worse, and left it out.</a:t>
            </a:r>
          </a:p>
        </p:txBody>
      </p:sp>
      <p:sp>
        <p:nvSpPr>
          <p:cNvPr id="16" name="TextBox 15"/>
          <p:cNvSpPr txBox="1"/>
          <p:nvPr/>
        </p:nvSpPr>
        <p:spPr>
          <a:xfrm>
            <a:off x="548640" y="6547104"/>
            <a:ext cx="11091672" cy="274320"/>
          </a:xfrm>
          <a:prstGeom prst="rect">
            <a:avLst/>
          </a:prstGeom>
          <a:noFill/>
        </p:spPr>
        <p:txBody>
          <a:bodyPr wrap="square" lIns="0" rIns="0" tIns="0" bIns="0">
            <a:spAutoFit/>
          </a:bodyPr>
          <a:lstStyle/>
          <a:p>
            <a:pPr algn="l">
              <a:spcBef>
                <a:spcPts val="0"/>
              </a:spcBef>
              <a:spcAft>
                <a:spcPts val="200"/>
              </a:spcAft>
            </a:pPr>
            <a:r>
              <a:rPr sz="950" b="0" i="0">
                <a:solidFill>
                  <a:srgbClr val="8A93A3"/>
                </a:solidFill>
                <a:latin typeface="Segoe UI"/>
              </a:rPr>
              <a:t>Visual Anomaly Detection — Converged Overview</a:t>
            </a:r>
          </a:p>
        </p:txBody>
      </p:sp>
      <p:sp>
        <p:nvSpPr>
          <p:cNvPr id="17" name="TextBox 16"/>
          <p:cNvSpPr txBox="1"/>
          <p:nvPr/>
        </p:nvSpPr>
        <p:spPr>
          <a:xfrm>
            <a:off x="548640" y="6547104"/>
            <a:ext cx="11091672" cy="274320"/>
          </a:xfrm>
          <a:prstGeom prst="rect">
            <a:avLst/>
          </a:prstGeom>
          <a:noFill/>
        </p:spPr>
        <p:txBody>
          <a:bodyPr wrap="square" lIns="0" rIns="0" tIns="0" bIns="0">
            <a:spAutoFit/>
          </a:bodyPr>
          <a:lstStyle/>
          <a:p>
            <a:pPr algn="r">
              <a:spcBef>
                <a:spcPts val="0"/>
              </a:spcBef>
              <a:spcAft>
                <a:spcPts val="200"/>
              </a:spcAft>
            </a:pPr>
            <a:r>
              <a:rPr sz="950" b="0" i="0">
                <a:solidFill>
                  <a:srgbClr val="8A93A3"/>
                </a:solidFill>
                <a:latin typeface="Segoe UI"/>
              </a:rPr>
              <a:t>4 / 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BFC"/>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155680" cy="960120"/>
          </a:xfrm>
          <a:prstGeom prst="rect">
            <a:avLst/>
          </a:prstGeom>
          <a:noFill/>
        </p:spPr>
        <p:txBody>
          <a:bodyPr wrap="square" lIns="0" rIns="0" tIns="0" bIns="0">
            <a:spAutoFit/>
          </a:bodyPr>
          <a:lstStyle/>
          <a:p>
            <a:pPr algn="l">
              <a:spcBef>
                <a:spcPts val="0"/>
              </a:spcBef>
              <a:spcAft>
                <a:spcPts val="200"/>
              </a:spcAft>
            </a:pPr>
            <a:r>
              <a:rPr sz="1100" b="1" i="0">
                <a:solidFill>
                  <a:srgbClr val="2E86AB"/>
                </a:solidFill>
                <a:latin typeface="Segoe UI"/>
              </a:rPr>
              <a:t>LIMITATIONS &amp; QUICK GLOSSARY</a:t>
            </a:r>
          </a:p>
          <a:p>
            <a:pPr algn="l">
              <a:spcBef>
                <a:spcPts val="100"/>
              </a:spcBef>
              <a:spcAft>
                <a:spcPts val="200"/>
              </a:spcAft>
            </a:pPr>
            <a:r>
              <a:rPr sz="2500" b="1" i="0">
                <a:solidFill>
                  <a:srgbClr val="1A222C"/>
                </a:solidFill>
                <a:latin typeface="Segoe UI"/>
              </a:rPr>
              <a:t>What's Left, and Every Term Used So Far</a:t>
            </a:r>
          </a:p>
          <a:p>
            <a:pPr algn="l">
              <a:spcBef>
                <a:spcPts val="300"/>
              </a:spcBef>
              <a:spcAft>
                <a:spcPts val="200"/>
              </a:spcAft>
            </a:pPr>
            <a:r>
              <a:rPr sz="1200" b="0" i="0">
                <a:solidFill>
                  <a:srgbClr val="5B6678"/>
                </a:solidFill>
                <a:latin typeface="Segoe UI"/>
              </a:rPr>
              <a:t>Naming the gap plainly beats a vague claim that everything works.</a:t>
            </a:r>
          </a:p>
        </p:txBody>
      </p:sp>
      <p:sp>
        <p:nvSpPr>
          <p:cNvPr id="4" name="Rectangle 3"/>
          <p:cNvSpPr/>
          <p:nvPr/>
        </p:nvSpPr>
        <p:spPr>
          <a:xfrm>
            <a:off x="548640" y="1243584"/>
            <a:ext cx="11091672" cy="10972"/>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426464"/>
            <a:ext cx="6309360" cy="3063240"/>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426464"/>
            <a:ext cx="54864" cy="3063240"/>
          </a:xfrm>
          <a:prstGeom prst="rect">
            <a:avLst/>
          </a:prstGeom>
          <a:solidFill>
            <a:srgbClr val="B433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8" y="1609344"/>
            <a:ext cx="5760720" cy="2697480"/>
          </a:xfrm>
          <a:prstGeom prst="rect">
            <a:avLst/>
          </a:prstGeom>
          <a:noFill/>
        </p:spPr>
        <p:txBody>
          <a:bodyPr wrap="square" lIns="0" rIns="0" tIns="0" bIns="0">
            <a:spAutoFit/>
          </a:bodyPr>
          <a:lstStyle/>
          <a:p>
            <a:pPr algn="l">
              <a:spcBef>
                <a:spcPts val="0"/>
              </a:spcBef>
              <a:spcAft>
                <a:spcPts val="200"/>
              </a:spcAft>
            </a:pPr>
            <a:r>
              <a:rPr sz="1050" b="1" i="0">
                <a:solidFill>
                  <a:srgbClr val="B4332E"/>
                </a:solidFill>
                <a:latin typeface="Segoe UI"/>
              </a:rPr>
              <a:t>THE MAIN GAP</a:t>
            </a:r>
          </a:p>
          <a:p>
            <a:pPr algn="l">
              <a:spcBef>
                <a:spcPts val="500"/>
              </a:spcBef>
              <a:spcAft>
                <a:spcPts val="200"/>
              </a:spcAft>
            </a:pPr>
            <a:r>
              <a:rPr sz="1350" b="1" i="0">
                <a:solidFill>
                  <a:srgbClr val="1A222C"/>
                </a:solidFill>
                <a:latin typeface="Segoe UI"/>
              </a:rPr>
              <a:t>Pinpointing exactly when a long problem starts and ends.</a:t>
            </a:r>
          </a:p>
          <a:p>
            <a:pPr algn="l">
              <a:spcBef>
                <a:spcPts val="600"/>
              </a:spcBef>
              <a:spcAft>
                <a:spcPts val="200"/>
              </a:spcAft>
            </a:pPr>
            <a:r>
              <a:rPr sz="1150" b="0" i="0">
                <a:solidFill>
                  <a:srgbClr val="5B6678"/>
                </a:solidFill>
                <a:latin typeface="Segoe UI"/>
              </a:rPr>
              <a:t>In a 6-minute video where a problem lasts 7 seconds, every fast checkpoint can only ask "does this MOMENT look like the category?" — and a busy scene often answers "kind of, yes" throughout, since busy scenes always have some motion. The counting stage (checkpoint 2) already keeps a per-person clock that knows the real answer; the unfinished work is letting that clock decide the exact timing, instead of a single-photo judgement that was never built to give one.</a:t>
            </a:r>
          </a:p>
          <a:p>
            <a:pPr algn="l">
              <a:spcBef>
                <a:spcPts val="800"/>
              </a:spcBef>
              <a:spcAft>
                <a:spcPts val="200"/>
              </a:spcAft>
            </a:pPr>
            <a:r>
              <a:rPr sz="1100" b="0" i="0">
                <a:solidFill>
                  <a:srgbClr val="5B6678"/>
                </a:solidFill>
                <a:latin typeface="Segoe UI"/>
              </a:rPr>
              <a:t>Two smaller, data-limited gaps: "stalled vehicle" had only 4 example videos to learn from, and "traffic congestion" had 23 — both too few for a model to learn reliably, regardless of design.</a:t>
            </a:r>
          </a:p>
        </p:txBody>
      </p:sp>
      <p:sp>
        <p:nvSpPr>
          <p:cNvPr id="8" name="Rectangle 7"/>
          <p:cNvSpPr/>
          <p:nvPr/>
        </p:nvSpPr>
        <p:spPr>
          <a:xfrm>
            <a:off x="7068312" y="1426464"/>
            <a:ext cx="4572000" cy="3063240"/>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87768" y="1591056"/>
            <a:ext cx="4160520" cy="2743200"/>
          </a:xfrm>
          <a:prstGeom prst="rect">
            <a:avLst/>
          </a:prstGeom>
          <a:noFill/>
        </p:spPr>
        <p:txBody>
          <a:bodyPr wrap="square" lIns="0" rIns="0" tIns="0" bIns="0">
            <a:spAutoFit/>
          </a:bodyPr>
          <a:lstStyle/>
          <a:p>
            <a:pPr algn="l">
              <a:spcBef>
                <a:spcPts val="0"/>
              </a:spcBef>
              <a:spcAft>
                <a:spcPts val="200"/>
              </a:spcAft>
            </a:pPr>
            <a:r>
              <a:rPr sz="1050" b="1" i="0">
                <a:solidFill>
                  <a:srgbClr val="2E86AB"/>
                </a:solidFill>
                <a:latin typeface="Segoe UI"/>
              </a:rPr>
              <a:t>GLOSSARY</a:t>
            </a:r>
          </a:p>
          <a:p>
            <a:pPr>
              <a:spcBef>
                <a:spcPts val="400"/>
              </a:spcBef>
            </a:pPr>
            <a:r>
              <a:rPr sz="1050" b="1">
                <a:solidFill>
                  <a:srgbClr val="1A222C"/>
                </a:solidFill>
                <a:latin typeface="Segoe UI"/>
              </a:rPr>
              <a:t>Model — </a:t>
            </a:r>
            <a:r>
              <a:rPr sz="1050">
                <a:solidFill>
                  <a:srgbClr val="5B6678"/>
                </a:solidFill>
                <a:latin typeface="Segoe UI"/>
              </a:rPr>
              <a:t>a program that learned a task from examples.</a:t>
            </a:r>
          </a:p>
          <a:p>
            <a:pPr>
              <a:spcBef>
                <a:spcPts val="400"/>
              </a:spcBef>
            </a:pPr>
            <a:r>
              <a:rPr sz="1050" b="1">
                <a:solidFill>
                  <a:srgbClr val="1A222C"/>
                </a:solidFill>
                <a:latin typeface="Segoe UI"/>
              </a:rPr>
              <a:t>Detection / tracking — </a:t>
            </a:r>
            <a:r>
              <a:rPr sz="1050">
                <a:solidFill>
                  <a:srgbClr val="5B6678"/>
                </a:solidFill>
                <a:latin typeface="Segoe UI"/>
              </a:rPr>
              <a:t>finding an object, then keeping the same ID for it over time.</a:t>
            </a:r>
          </a:p>
          <a:p>
            <a:pPr>
              <a:spcBef>
                <a:spcPts val="400"/>
              </a:spcBef>
            </a:pPr>
            <a:r>
              <a:rPr sz="1050" b="1">
                <a:solidFill>
                  <a:srgbClr val="1A222C"/>
                </a:solidFill>
                <a:latin typeface="Segoe UI"/>
              </a:rPr>
              <a:t>Vision-language model — </a:t>
            </a:r>
            <a:r>
              <a:rPr sz="1050">
                <a:solidFill>
                  <a:srgbClr val="5B6678"/>
                </a:solidFill>
                <a:latin typeface="Segoe UI"/>
              </a:rPr>
              <a:t>an AI that looks at an image and writes a sentence about it.</a:t>
            </a:r>
          </a:p>
          <a:p>
            <a:pPr>
              <a:spcBef>
                <a:spcPts val="400"/>
              </a:spcBef>
            </a:pPr>
            <a:r>
              <a:rPr sz="1050" b="1">
                <a:solidFill>
                  <a:srgbClr val="1A222C"/>
                </a:solidFill>
                <a:latin typeface="Segoe UI"/>
              </a:rPr>
              <a:t>Fine-tuning — </a:t>
            </a:r>
            <a:r>
              <a:rPr sz="1050">
                <a:solidFill>
                  <a:srgbClr val="5B6678"/>
                </a:solidFill>
                <a:latin typeface="Segoe UI"/>
              </a:rPr>
              <a:t>retraining an existing model on examples specific to one job.</a:t>
            </a:r>
          </a:p>
          <a:p>
            <a:pPr>
              <a:spcBef>
                <a:spcPts val="400"/>
              </a:spcBef>
            </a:pPr>
            <a:r>
              <a:rPr sz="1050" b="1">
                <a:solidFill>
                  <a:srgbClr val="1A222C"/>
                </a:solidFill>
                <a:latin typeface="Segoe UI"/>
              </a:rPr>
              <a:t>GPU / video memory — </a:t>
            </a:r>
            <a:r>
              <a:rPr sz="1050">
                <a:solidFill>
                  <a:srgbClr val="5B6678"/>
                </a:solidFill>
                <a:latin typeface="Segoe UI"/>
              </a:rPr>
              <a:t>the chip AI models run on, and its own separate memory.</a:t>
            </a:r>
          </a:p>
          <a:p>
            <a:pPr>
              <a:spcBef>
                <a:spcPts val="400"/>
              </a:spcBef>
            </a:pPr>
            <a:r>
              <a:rPr sz="1050" b="1">
                <a:solidFill>
                  <a:srgbClr val="1A222C"/>
                </a:solidFill>
                <a:latin typeface="Segoe UI"/>
              </a:rPr>
              <a:t>False alarm — </a:t>
            </a:r>
            <a:r>
              <a:rPr sz="1050">
                <a:solidFill>
                  <a:srgbClr val="5B6678"/>
                </a:solidFill>
                <a:latin typeface="Segoe UI"/>
              </a:rPr>
              <a:t>flagging a problem that wasn't real — the costlier mistake here.</a:t>
            </a:r>
          </a:p>
          <a:p>
            <a:pPr>
              <a:spcBef>
                <a:spcPts val="400"/>
              </a:spcBef>
            </a:pPr>
            <a:r>
              <a:rPr sz="1050" b="1">
                <a:solidFill>
                  <a:srgbClr val="1A222C"/>
                </a:solidFill>
                <a:latin typeface="Segoe UI"/>
              </a:rPr>
              <a:t>Recall — </a:t>
            </a:r>
            <a:r>
              <a:rPr sz="1050">
                <a:solidFill>
                  <a:srgbClr val="5B6678"/>
                </a:solidFill>
                <a:latin typeface="Segoe UI"/>
              </a:rPr>
              <a:t>of all the real problems, what fraction did the system find?</a:t>
            </a:r>
          </a:p>
          <a:p>
            <a:pPr>
              <a:spcBef>
                <a:spcPts val="400"/>
              </a:spcBef>
            </a:pPr>
            <a:r>
              <a:rPr sz="1050" b="1">
                <a:solidFill>
                  <a:srgbClr val="1A222C"/>
                </a:solidFill>
                <a:latin typeface="Segoe UI"/>
              </a:rPr>
              <a:t>Ground truth — </a:t>
            </a:r>
            <a:r>
              <a:rPr sz="1050">
                <a:solidFill>
                  <a:srgbClr val="5B6678"/>
                </a:solidFill>
                <a:latin typeface="Segoe UI"/>
              </a:rPr>
              <a:t>the verified correct answer, used to check the system.</a:t>
            </a:r>
          </a:p>
        </p:txBody>
      </p:sp>
      <p:sp>
        <p:nvSpPr>
          <p:cNvPr id="10" name="Rectangle 9"/>
          <p:cNvSpPr/>
          <p:nvPr/>
        </p:nvSpPr>
        <p:spPr>
          <a:xfrm>
            <a:off x="548640" y="4626864"/>
            <a:ext cx="11091672" cy="960120"/>
          </a:xfrm>
          <a:prstGeom prst="rect">
            <a:avLst/>
          </a:prstGeom>
          <a:solidFill>
            <a:srgbClr val="EEF4F8"/>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754880"/>
            <a:ext cx="10515600" cy="731520"/>
          </a:xfrm>
          <a:prstGeom prst="rect">
            <a:avLst/>
          </a:prstGeom>
          <a:noFill/>
        </p:spPr>
        <p:txBody>
          <a:bodyPr wrap="square" lIns="0" rIns="0" tIns="0" bIns="0">
            <a:spAutoFit/>
          </a:bodyPr>
          <a:lstStyle/>
          <a:p>
            <a:pPr algn="l">
              <a:spcBef>
                <a:spcPts val="0"/>
              </a:spcBef>
              <a:spcAft>
                <a:spcPts val="200"/>
              </a:spcAft>
            </a:pPr>
            <a:r>
              <a:rPr sz="1100" b="1" i="0">
                <a:solidFill>
                  <a:srgbClr val="2E86AB"/>
                </a:solidFill>
                <a:latin typeface="Segoe UI"/>
              </a:rPr>
              <a:t>WITH MORE TIME: </a:t>
            </a:r>
            <a:r>
              <a:rPr sz="1100">
                <a:solidFill>
                  <a:srgbClr val="1A222C"/>
                </a:solidFill>
                <a:latin typeface="Segoe UI"/>
              </a:rPr>
              <a:t>give the per-person clock the final say on WHEN an event happened, and reserve the quick-glance model for WHAT category it belongs to — the job each one is actually suited for.</a:t>
            </a:r>
          </a:p>
        </p:txBody>
      </p:sp>
      <p:sp>
        <p:nvSpPr>
          <p:cNvPr id="12" name="TextBox 11"/>
          <p:cNvSpPr txBox="1"/>
          <p:nvPr/>
        </p:nvSpPr>
        <p:spPr>
          <a:xfrm>
            <a:off x="548640" y="6547104"/>
            <a:ext cx="11091672" cy="274320"/>
          </a:xfrm>
          <a:prstGeom prst="rect">
            <a:avLst/>
          </a:prstGeom>
          <a:noFill/>
        </p:spPr>
        <p:txBody>
          <a:bodyPr wrap="square" lIns="0" rIns="0" tIns="0" bIns="0">
            <a:spAutoFit/>
          </a:bodyPr>
          <a:lstStyle/>
          <a:p>
            <a:pPr algn="l">
              <a:spcBef>
                <a:spcPts val="0"/>
              </a:spcBef>
              <a:spcAft>
                <a:spcPts val="200"/>
              </a:spcAft>
            </a:pPr>
            <a:r>
              <a:rPr sz="950" b="0" i="0">
                <a:solidFill>
                  <a:srgbClr val="8A93A3"/>
                </a:solidFill>
                <a:latin typeface="Segoe UI"/>
              </a:rPr>
              <a:t>Visual Anomaly Detection — Converged Overview</a:t>
            </a:r>
          </a:p>
        </p:txBody>
      </p:sp>
      <p:sp>
        <p:nvSpPr>
          <p:cNvPr id="13" name="TextBox 12"/>
          <p:cNvSpPr txBox="1"/>
          <p:nvPr/>
        </p:nvSpPr>
        <p:spPr>
          <a:xfrm>
            <a:off x="548640" y="6547104"/>
            <a:ext cx="11091672" cy="274320"/>
          </a:xfrm>
          <a:prstGeom prst="rect">
            <a:avLst/>
          </a:prstGeom>
          <a:noFill/>
        </p:spPr>
        <p:txBody>
          <a:bodyPr wrap="square" lIns="0" rIns="0" tIns="0" bIns="0">
            <a:spAutoFit/>
          </a:bodyPr>
          <a:lstStyle/>
          <a:p>
            <a:pPr algn="r">
              <a:spcBef>
                <a:spcPts val="0"/>
              </a:spcBef>
              <a:spcAft>
                <a:spcPts val="200"/>
              </a:spcAft>
            </a:pPr>
            <a:r>
              <a:rPr sz="950" b="0" i="0">
                <a:solidFill>
                  <a:srgbClr val="8A93A3"/>
                </a:solidFill>
                <a:latin typeface="Segoe UI"/>
              </a:rPr>
              <a:t>5 / 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