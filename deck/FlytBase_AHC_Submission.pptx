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FLYTBASE AHC · VISUAL INTELLIGENCE HACKATHON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900" b="1" i="0">
                <a:solidFill>
                  <a:srgbClr val="111827"/>
                </a:solidFill>
                <a:latin typeface="Segoe UI"/>
              </a:rPr>
              <a:t>Context-Dependent Anomaly Detection at 15 FPS on a 4 GB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5B6678"/>
                </a:solidFill>
                <a:latin typeface="Segoe UI"/>
              </a:rPr>
              <a:t>Noticing is cheap; reasoning is not. So they are different stages — the VLM is consulted on the 0.19–1.9% of frames that earn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3664"/>
            <a:ext cx="2670048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83664"/>
            <a:ext cx="2670048" cy="457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66544"/>
            <a:ext cx="234086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678"/>
                </a:solidFill>
                <a:latin typeface="Segoe UI"/>
              </a:rPr>
              <a:t>STAGE 1 · every frame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YOLO26n + ByteTrack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Ego-motion compensated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(RANSAC partial affine)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48716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83664"/>
            <a:ext cx="2670048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83664"/>
            <a:ext cx="2670048" cy="457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066544"/>
            <a:ext cx="234086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678"/>
                </a:solidFill>
                <a:latin typeface="Segoe UI"/>
              </a:rPr>
              <a:t>STAGE 2 · every frame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Per-track dwell, speed,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zone, neighbour state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NO model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248716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83664"/>
            <a:ext cx="2670048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83664"/>
            <a:ext cx="2670048" cy="457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066544"/>
            <a:ext cx="234086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678"/>
                </a:solidFill>
                <a:latin typeface="Segoe UI"/>
              </a:rPr>
              <a:t>STAGE 2b · sampled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MobileNetV3-Small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appearance classes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(fire/smoke/flood/spill)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48716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8DEE6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883664"/>
            <a:ext cx="2670048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883664"/>
            <a:ext cx="2670048" cy="45720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2066544"/>
            <a:ext cx="234086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87122"/>
                </a:solidFill>
                <a:latin typeface="Segoe UI"/>
              </a:rPr>
              <a:t>STAGE 3 · triggered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Qwen2.5-VL-3B (QLoRA)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describes the scene,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 i="0">
                <a:solidFill>
                  <a:srgbClr val="111827"/>
                </a:solidFill>
                <a:latin typeface="Segoe UI"/>
              </a:rPr>
              <a:t>may escalate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02736"/>
            <a:ext cx="5623560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02736"/>
            <a:ext cx="45720" cy="261518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803904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7122"/>
                </a:solidFill>
                <a:latin typeface="Segoe UI"/>
              </a:rPr>
              <a:t>THE CONSTRAINT EVERYTHING BENDS AROUND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Segoe UI"/>
              </a:rPr>
              <a:t>A still frame does not contain motion.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200" b="0" i="0">
                <a:solidFill>
                  <a:srgbClr val="5B6678"/>
                </a:solidFill>
                <a:latin typeface="Segoe UI"/>
              </a:rPr>
              <a:t>A moving car and a stopped car are pixel-identical in one image. Asked to judge motion, Qwen2.5-VL-3B scored 3/6 — chance — across four prompt revisions, while its prose stayed accurate.</a:t>
            </a:r>
          </a:p>
          <a:p>
            <a:pPr algn="l">
              <a:spcBef>
                <a:spcPts val="700"/>
              </a:spcBef>
              <a:spcAft>
                <a:spcPts val="200"/>
              </a:spcAft>
            </a:pPr>
            <a:r>
              <a:rPr sz="1200" b="0" i="0">
                <a:solidFill>
                  <a:srgbClr val="111827"/>
                </a:solidFill>
                <a:latin typeface="Segoe UI"/>
              </a:rPr>
              <a:t>So responsibility follows evidence type: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  <a:latin typeface="Segoe UI"/>
              </a:rPr>
              <a:t>▪ Rules own the boolean — </a:t>
            </a:r>
            <a:r>
              <a:rPr sz="1150">
                <a:solidFill>
                  <a:srgbClr val="5B6678"/>
                </a:solidFill>
                <a:latin typeface="Segoe UI"/>
              </a:rPr>
              <a:t>dwell, zone, neighbours are arithmetic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  <a:latin typeface="Segoe UI"/>
              </a:rPr>
              <a:t>▪ The VLM only observes — </a:t>
            </a:r>
            <a:r>
              <a:rPr sz="1150">
                <a:solidFill>
                  <a:srgbClr val="5B6678"/>
                </a:solidFill>
                <a:latin typeface="Segoe UI"/>
              </a:rPr>
              <a:t>and may escalate, never overturn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  <a:latin typeface="Segoe UI"/>
              </a:rPr>
              <a:t>▪ Classifier owns appearance — </a:t>
            </a:r>
            <a:r>
              <a:rPr sz="1150">
                <a:solidFill>
                  <a:srgbClr val="5B6678"/>
                </a:solidFill>
                <a:latin typeface="Segoe UI"/>
              </a:rPr>
              <a:t>fire/smoke/flood are visible in one frame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3602736"/>
            <a:ext cx="5276088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3803904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8"/>
                </a:solidFill>
                <a:latin typeface="Segoe UI"/>
              </a:rPr>
              <a:t>THE DETECTOR WAS THE WEAK LINK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Segoe UI"/>
              </a:rPr>
              <a:t>Stock settings miss 85% of aerial objects.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50" b="0" i="0">
                <a:solidFill>
                  <a:srgbClr val="5B6678"/>
                </a:solidFill>
                <a:latin typeface="Segoe UI"/>
              </a:rPr>
              <a:t>Measured on VisDrone val — 100 images, 5,189 objects: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47731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678"/>
                </a:solidFill>
                <a:latin typeface="Consolas"/>
              </a:rPr>
              <a:t>config                                      </a:t>
            </a:r>
            <a:r>
              <a:rPr sz="1100" b="1">
                <a:solidFill>
                  <a:srgbClr val="5B6678"/>
                </a:solidFill>
                <a:latin typeface="Consolas"/>
              </a:rPr>
              <a:t>recall      </a:t>
            </a:r>
            <a:r>
              <a:rPr sz="1100" b="1">
                <a:solidFill>
                  <a:srgbClr val="5B6678"/>
                </a:solidFill>
                <a:latin typeface="Consolas"/>
              </a:rPr>
              <a:t>tiny objects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5010912"/>
            <a:ext cx="4754880" cy="10972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50474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Consolas"/>
              </a:rPr>
              <a:t>stock  640 / conf 0.25                      </a:t>
            </a:r>
            <a:r>
              <a:rPr sz="1100" b="0">
                <a:solidFill>
                  <a:srgbClr val="111827"/>
                </a:solidFill>
                <a:latin typeface="Consolas"/>
              </a:rPr>
              <a:t>0.152       </a:t>
            </a:r>
            <a:r>
              <a:rPr sz="1100" b="0">
                <a:solidFill>
                  <a:srgbClr val="111827"/>
                </a:solidFill>
                <a:latin typeface="Consolas"/>
              </a:rPr>
              <a:t>0.008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32180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Consolas"/>
              </a:rPr>
              <a:t>aerial  1280 / conf 0.10                    </a:t>
            </a:r>
            <a:r>
              <a:rPr sz="1100" b="1">
                <a:solidFill>
                  <a:srgbClr val="1B7F5A"/>
                </a:solidFill>
                <a:latin typeface="Consolas"/>
              </a:rPr>
              <a:t>0.413       </a:t>
            </a:r>
            <a:r>
              <a:rPr sz="1100" b="1">
                <a:solidFill>
                  <a:srgbClr val="1B7F5A"/>
                </a:solidFill>
                <a:latin typeface="Consolas"/>
              </a:rPr>
              <a:t>0.149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5687567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678"/>
                </a:solidFill>
                <a:latin typeface="Segoe UI"/>
              </a:rPr>
              <a:t>Config alone nearly triples recall, for free — and still clears 25 fps. The competition data ships no bounding boxes, so the detector is fine-tuned on VisDrone instead.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87122"/>
                </a:solidFill>
                <a:latin typeface="Segoe UI"/>
              </a:rPr>
              <a:t>RESULTS · MEASURED, NOT CLAIMED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900" b="1" i="0">
                <a:solidFill>
                  <a:srgbClr val="111827"/>
                </a:solidFill>
                <a:latin typeface="Segoe UI"/>
              </a:rPr>
              <a:t>Real-Time on One 4 GB Card — and an Honest Scoreboard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623560" cy="22128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678"/>
                </a:solidFill>
                <a:latin typeface="Segoe UI"/>
              </a:rPr>
              <a:t>THROUGHPUT · 4K 25 FPS SOURCE, GTX 1650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9280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Stage 1, threaded decode</a:t>
            </a:r>
            <a:r>
              <a:rPr sz="1200" b="1">
                <a:solidFill>
                  <a:srgbClr val="1B7F5A"/>
                </a:solidFill>
                <a:latin typeface="Consolas"/>
              </a:rPr>
              <a:t>   26.6 fps</a:t>
            </a:r>
          </a:p>
          <a:p>
            <a:r>
              <a:rPr sz="1050">
                <a:solidFill>
                  <a:srgbClr val="5B6678"/>
                </a:solidFill>
                <a:latin typeface="Segoe UI"/>
              </a:rPr>
              <a:t>1.06× real-time on 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9514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Full pipeline, rules, stride 2</a:t>
            </a:r>
            <a:r>
              <a:rPr sz="1200" b="1">
                <a:solidFill>
                  <a:srgbClr val="1B7F5A"/>
                </a:solidFill>
                <a:latin typeface="Consolas"/>
              </a:rPr>
              <a:t>   14.9 fps</a:t>
            </a:r>
          </a:p>
          <a:p>
            <a:r>
              <a:rPr sz="1050">
                <a:solidFill>
                  <a:srgbClr val="5B6678"/>
                </a:solidFill>
                <a:latin typeface="Segoe UI"/>
              </a:rPr>
              <a:t>vs 12.5 needed — REAL-TIME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Serial decode (reverted)</a:t>
            </a:r>
            <a:r>
              <a:rPr sz="1200" b="1">
                <a:solidFill>
                  <a:srgbClr val="5B6678"/>
                </a:solidFill>
                <a:latin typeface="Consolas"/>
              </a:rPr>
              <a:t>   20.0 fps</a:t>
            </a:r>
          </a:p>
          <a:p>
            <a:r>
              <a:rPr sz="1050">
                <a:solidFill>
                  <a:srgbClr val="5B6678"/>
                </a:solidFill>
                <a:latin typeface="Segoe UI"/>
              </a:rPr>
              <a:t>decode + detect serialise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9981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Segoe UI"/>
              </a:rPr>
              <a:t>Hybrid, VLM in the loop</a:t>
            </a:r>
            <a:r>
              <a:rPr sz="1200" b="1">
                <a:solidFill>
                  <a:srgbClr val="B4332E"/>
                </a:solidFill>
                <a:latin typeface="Consolas"/>
              </a:rPr>
              <a:t>   6.8 fps</a:t>
            </a:r>
          </a:p>
          <a:p>
            <a:r>
              <a:rPr sz="1050">
                <a:solidFill>
                  <a:srgbClr val="5B6678"/>
                </a:solidFill>
                <a:latin typeface="Segoe UI"/>
              </a:rPr>
              <a:t>not real-time on one 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2" y="1417320"/>
            <a:ext cx="5276088" cy="22128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600200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7122"/>
                </a:solidFill>
                <a:latin typeface="Segoe UI"/>
              </a:rPr>
              <a:t>PUBLIC ARENA · 50.7 / 100 · 4TH OF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929384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1  clip classification</a:t>
            </a:r>
            <a:r>
              <a:rPr sz="1300" b="1">
                <a:solidFill>
                  <a:srgbClr val="1B7F5A"/>
                </a:solidFill>
                <a:latin typeface="Consolas"/>
              </a:rPr>
              <a:t>     17.5 /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295144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2  when it happens</a:t>
            </a:r>
            <a:r>
              <a:rPr sz="1300" b="1">
                <a:solidFill>
                  <a:srgbClr val="1B7F5A"/>
                </a:solidFill>
                <a:latin typeface="Consolas"/>
              </a:rPr>
              <a:t>     25.2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660904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>
                <a:solidFill>
                  <a:srgbClr val="111827"/>
                </a:solidFill>
                <a:latin typeface="Segoe UI"/>
              </a:rPr>
              <a:t>Level 3  long context</a:t>
            </a:r>
            <a:r>
              <a:rPr sz="1300" b="1">
                <a:solidFill>
                  <a:srgbClr val="B4332E"/>
                </a:solidFill>
                <a:latin typeface="Consolas"/>
              </a:rPr>
              <a:t>     8.0 / 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11810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678"/>
                </a:solidFill>
                <a:latin typeface="Segoe UI"/>
              </a:rPr>
              <a:t>score_arena.py reproduces the live leaderboard exactly — every match and false-alarm count — so changes are measured locally instead of guessed, and no upload is spent to learn whether something worked.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31336"/>
            <a:ext cx="11155680" cy="2386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31336"/>
            <a:ext cx="45720" cy="2386584"/>
          </a:xfrm>
          <a:prstGeom prst="rect">
            <a:avLst/>
          </a:prstGeom>
          <a:solidFill>
            <a:srgbClr val="E87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01421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87122"/>
                </a:solidFill>
                <a:latin typeface="Segoe UI"/>
              </a:rPr>
              <a:t>WHAT WE DID WITH THE MEASUREMENTS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98264"/>
            <a:ext cx="34564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Fine-tuned the VLM end-to-end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QLoRA on Kaggle T4 → merged → GGUF → Ollama. 504 LoRA modules verified injected before export, so a silent no-op merge could not ship as "fine-tuned". It answers correctly where stock scored at chance.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398264"/>
            <a:ext cx="34564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Killed our own idea with 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Built a motion classifier for the failing classes. It trained well (val 0.705) then failed both tests — fired on 100% of a clip that is 2% anomalous, and NET −1 on class accuracy. Rejected, not shipped.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4398264"/>
            <a:ext cx="34564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Refused to fit the test set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>
                <a:solidFill>
                  <a:srgbClr val="5B6678"/>
                </a:solidFill>
                <a:latin typeface="Segoe UI"/>
              </a:rPr>
              <a:t>Per-class thresholds tuned on public test lift in-sample F1 to 0.289 but fall to 0.230 under leave-one-out. Three such attempts measured and rejected. We optimise for the private set, not the visible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8251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678"/>
                </a:solidFill>
                <a:latin typeface="Segoe UI"/>
              </a:rPr>
              <a:t>Level 3 is the open problem: the evidence is a property of a single track, not of any frame — so it needs per-track temporal state, which Stage 2 already computes.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