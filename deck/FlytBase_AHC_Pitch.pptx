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86AB"/>
                </a:solidFill>
                <a:latin typeface="Segoe UI"/>
              </a:rPr>
              <a:t>CONTEXT-AWARE VISUAL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Watch Everything. Think Only Where It Matters.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10543032" cy="1024128"/>
          </a:xfrm>
          <a:prstGeom prst="rect">
            <a:avLst/>
          </a:prstGeom>
          <a:solidFill>
            <a:srgbClr val="16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64008" cy="102412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450592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86AB"/>
                </a:solidFill>
                <a:latin typeface="Segoe UI"/>
              </a:rPr>
              <a:t>THE PREMISE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50" b="0" i="0">
                <a:solidFill>
                  <a:srgbClr val="FFFFFF"/>
                </a:solidFill>
                <a:latin typeface="Segoe UI"/>
              </a:rPr>
              <a:t>An anomaly is not a thing you can see in a picture — it is a thing that is wrong for this place, at this moment. So we measure context continuously, and spend intelligence only where context says something is off.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611880"/>
            <a:ext cx="3438144" cy="2377440"/>
          </a:xfrm>
          <a:prstGeom prst="rect">
            <a:avLst/>
          </a:prstGeom>
          <a:solidFill>
            <a:srgbClr val="13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611880"/>
            <a:ext cx="3438144" cy="457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3849624"/>
            <a:ext cx="299923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Context, not appearance</a:t>
            </a:r>
          </a:p>
          <a:p>
            <a:pPr algn="l">
              <a:spcBef>
                <a:spcPts val="700"/>
              </a:spcBef>
              <a:spcAft>
                <a:spcPts val="200"/>
              </a:spcAft>
            </a:pPr>
            <a:r>
              <a:rPr sz="1100" b="0" i="0">
                <a:solidFill>
                  <a:srgbClr val="B6C5D8"/>
                </a:solidFill>
                <a:latin typeface="Segoe UI"/>
              </a:rPr>
              <a:t>A parked car and a car stopped dead in a live highway lane are the same pixels. What separates them is where it sits and how long it has sat there — so that is what the system measures.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9976" y="3611880"/>
            <a:ext cx="3438144" cy="2377440"/>
          </a:xfrm>
          <a:prstGeom prst="rect">
            <a:avLst/>
          </a:prstGeom>
          <a:solidFill>
            <a:srgbClr val="13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9976" y="3611880"/>
            <a:ext cx="3438144" cy="457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3849624"/>
            <a:ext cx="299923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Attention as a budget</a:t>
            </a:r>
          </a:p>
          <a:p>
            <a:pPr algn="l">
              <a:spcBef>
                <a:spcPts val="700"/>
              </a:spcBef>
              <a:spcAft>
                <a:spcPts val="200"/>
              </a:spcAft>
            </a:pPr>
            <a:r>
              <a:rPr sz="1100" b="0" i="0">
                <a:solidFill>
                  <a:srgbClr val="B6C5D8"/>
                </a:solidFill>
                <a:latin typeface="Segoe UI"/>
              </a:rPr>
              <a:t>Cheap perception runs on every frame; heavy reasoning is invited in for well under 2% of them. Intelligence is spent like a budget, on the moments that earned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36992" y="3611880"/>
            <a:ext cx="3438144" cy="2377440"/>
          </a:xfrm>
          <a:prstGeom prst="rect">
            <a:avLst/>
          </a:prstGeom>
          <a:solidFill>
            <a:srgbClr val="13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36992" y="3611880"/>
            <a:ext cx="3438144" cy="457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3849624"/>
            <a:ext cx="299923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Built to scale out</a:t>
            </a:r>
          </a:p>
          <a:p>
            <a:pPr algn="l">
              <a:spcBef>
                <a:spcPts val="700"/>
              </a:spcBef>
              <a:spcAft>
                <a:spcPts val="200"/>
              </a:spcAft>
            </a:pPr>
            <a:r>
              <a:rPr sz="1100" b="0" i="0">
                <a:solidFill>
                  <a:srgbClr val="B6C5D8"/>
                </a:solidFill>
                <a:latin typeface="Segoe UI"/>
              </a:rPr>
              <a:t>Because the expensive stage is rare, one modest GPU supervises a live feed in real time — and the same design multiplies across many feeds without multiplying cost.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86AB"/>
                </a:solidFill>
                <a:latin typeface="Segoe UI"/>
              </a:rPr>
              <a:t>SYSTEM ARCHITECTURE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400" b="1" i="0">
                <a:solidFill>
                  <a:srgbClr val="141B24"/>
                </a:solidFill>
                <a:latin typeface="Segoe UI"/>
              </a:rPr>
              <a:t>A Four-Stage Pipeline With One Decision Gate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50" b="0" i="0">
                <a:solidFill>
                  <a:srgbClr val="5B6678"/>
                </a:solidFill>
                <a:latin typeface="Segoe UI"/>
              </a:rPr>
              <a:t>Everything above the gate is constant and deterministic. Everything below it is rare, and only ever adds information.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83664" y="1335024"/>
            <a:ext cx="7699248" cy="402336"/>
          </a:xfrm>
          <a:prstGeom prst="rect">
            <a:avLst/>
          </a:prstGeom>
          <a:solidFill>
            <a:srgbClr val="14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66544" y="1426464"/>
            <a:ext cx="73334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CONTINUOUS VIDEO  —  drone or fixed camera, any 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75104"/>
            <a:ext cx="54864" cy="170078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359152"/>
            <a:ext cx="9875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86AB"/>
                </a:solidFill>
                <a:latin typeface="Segoe UI"/>
              </a:rPr>
              <a:t>ALWAYS 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50" b="0" i="0">
                <a:solidFill>
                  <a:srgbClr val="5B6678"/>
                </a:solidFill>
                <a:latin typeface="Segoe UI"/>
              </a:rPr>
              <a:t>deterministic, real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14800"/>
            <a:ext cx="54864" cy="1700784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4498848"/>
            <a:ext cx="9875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87122"/>
                </a:solidFill>
                <a:latin typeface="Segoe UI"/>
              </a:rPr>
              <a:t>INVITED 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50" b="0" i="0">
                <a:solidFill>
                  <a:srgbClr val="5B6678"/>
                </a:solidFill>
                <a:latin typeface="Segoe UI"/>
              </a:rPr>
              <a:t>event-triggered only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614416" y="1737360"/>
            <a:ext cx="237744" cy="219456"/>
          </a:xfrm>
          <a:prstGeom prst="downArrow">
            <a:avLst/>
          </a:prstGeom>
          <a:solidFill>
            <a:srgbClr val="14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83664" y="1975104"/>
            <a:ext cx="7699248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83664" y="1975104"/>
            <a:ext cx="50292" cy="78638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1408" y="2084832"/>
            <a:ext cx="724204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2E86AB"/>
                </a:solidFill>
                <a:latin typeface="Segoe UI"/>
              </a:rPr>
              <a:t>STAGE 1   </a:t>
            </a:r>
            <a:r>
              <a:rPr sz="1300" b="1">
                <a:solidFill>
                  <a:srgbClr val="141B24"/>
                </a:solidFill>
                <a:latin typeface="Segoe UI"/>
              </a:rPr>
              <a:t>PERCEPTION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30" b="0" i="0">
                <a:solidFill>
                  <a:srgbClr val="5B6678"/>
                </a:solidFill>
                <a:latin typeface="Segoe UI"/>
              </a:rPr>
              <a:t>Aerial-tuned detector plus a multi-object tracker. Every vehicle and person gets an identity that survives across frames.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47504" y="2121408"/>
            <a:ext cx="1892807" cy="493776"/>
          </a:xfrm>
          <a:prstGeom prst="roundRect">
            <a:avLst>
              <a:gd name="adj" fmla="val 8000"/>
            </a:avLst>
          </a:prstGeom>
          <a:solidFill>
            <a:srgbClr val="EC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47504" y="2185416"/>
            <a:ext cx="18928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86AB"/>
                </a:solidFill>
                <a:latin typeface="Segoe UI"/>
              </a:rPr>
              <a:t>100%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8"/>
                </a:solidFill>
                <a:latin typeface="Segoe UI"/>
              </a:rPr>
              <a:t>every frame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614416" y="2761488"/>
            <a:ext cx="237744" cy="128016"/>
          </a:xfrm>
          <a:prstGeom prst="downArrow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883664" y="2889504"/>
            <a:ext cx="7699248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83664" y="2889504"/>
            <a:ext cx="50292" cy="78638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21408" y="2999232"/>
            <a:ext cx="724204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2E86AB"/>
                </a:solidFill>
                <a:latin typeface="Segoe UI"/>
              </a:rPr>
              <a:t>STAGE 2   </a:t>
            </a:r>
            <a:r>
              <a:rPr sz="1300" b="1">
                <a:solidFill>
                  <a:srgbClr val="141B24"/>
                </a:solidFill>
                <a:latin typeface="Segoe UI"/>
              </a:rPr>
              <a:t>CONTEXT ENGINE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30" b="0" i="0">
                <a:solidFill>
                  <a:srgbClr val="5B6678"/>
                </a:solidFill>
                <a:latin typeface="Segoe UI"/>
              </a:rPr>
              <a:t>Per-identity dwell clock, speed, and zone from a one-time scene calibration. Arithmetic, not inference — this stage owns the yes/no verdict.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47504" y="3035808"/>
            <a:ext cx="1892807" cy="493776"/>
          </a:xfrm>
          <a:prstGeom prst="roundRect">
            <a:avLst>
              <a:gd name="adj" fmla="val 8000"/>
            </a:avLst>
          </a:prstGeom>
          <a:solidFill>
            <a:srgbClr val="EC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47504" y="3099816"/>
            <a:ext cx="18928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86AB"/>
                </a:solidFill>
                <a:latin typeface="Segoe UI"/>
              </a:rPr>
              <a:t>100%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8"/>
                </a:solidFill>
                <a:latin typeface="Segoe UI"/>
              </a:rPr>
              <a:t>every frame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83664" y="4114800"/>
            <a:ext cx="7699248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83664" y="4114800"/>
            <a:ext cx="50292" cy="786384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21408" y="4224528"/>
            <a:ext cx="724204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E87122"/>
                </a:solidFill>
                <a:latin typeface="Segoe UI"/>
              </a:rPr>
              <a:t>STAGE 3   </a:t>
            </a:r>
            <a:r>
              <a:rPr sz="1300" b="1">
                <a:solidFill>
                  <a:srgbClr val="141B24"/>
                </a:solidFill>
                <a:latin typeface="Segoe UI"/>
              </a:rPr>
              <a:t>SEMANTIC LAYER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30" b="0" i="0">
                <a:solidFill>
                  <a:srgbClr val="5B6678"/>
                </a:solidFill>
                <a:latin typeface="Segoe UI"/>
              </a:rPr>
              <a:t>Appearance classifier plus a fine-tuned vision-language model, on sampled frames. Answers what a single image can genuinely show.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47504" y="4261104"/>
            <a:ext cx="1892807" cy="493776"/>
          </a:xfrm>
          <a:prstGeom prst="roundRect">
            <a:avLst>
              <a:gd name="adj" fmla="val 8000"/>
            </a:avLst>
          </a:prstGeom>
          <a:solidFill>
            <a:srgbClr val="FD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47504" y="4325112"/>
            <a:ext cx="18928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87122"/>
                </a:solidFill>
                <a:latin typeface="Segoe UI"/>
              </a:rPr>
              <a:t>&lt; 2%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8"/>
                </a:solidFill>
                <a:latin typeface="Segoe UI"/>
              </a:rPr>
              <a:t>sampled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614416" y="4901184"/>
            <a:ext cx="237744" cy="128016"/>
          </a:xfrm>
          <a:prstGeom prst="downArrow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883664" y="5029200"/>
            <a:ext cx="7699248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83664" y="5029200"/>
            <a:ext cx="50292" cy="786384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21408" y="5138928"/>
            <a:ext cx="724204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E87122"/>
                </a:solidFill>
                <a:latin typeface="Segoe UI"/>
              </a:rPr>
              <a:t>STAGE 4   </a:t>
            </a:r>
            <a:r>
              <a:rPr sz="1300" b="1">
                <a:solidFill>
                  <a:srgbClr val="141B24"/>
                </a:solidFill>
                <a:latin typeface="Segoe UI"/>
              </a:rPr>
              <a:t>FUSION &amp; EVENT ASSEMBLY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30" b="0" i="0">
                <a:solidFill>
                  <a:srgbClr val="5B6678"/>
                </a:solidFill>
                <a:latin typeface="Segoe UI"/>
              </a:rPr>
              <a:t>Arbitrates the class, merges detections into clean time windows, and writes an explanation grounded in the measured facts.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47504" y="5175504"/>
            <a:ext cx="1892807" cy="493776"/>
          </a:xfrm>
          <a:prstGeom prst="roundRect">
            <a:avLst>
              <a:gd name="adj" fmla="val 8000"/>
            </a:avLst>
          </a:prstGeom>
          <a:solidFill>
            <a:srgbClr val="FD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47504" y="5239512"/>
            <a:ext cx="18928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87122"/>
                </a:solidFill>
                <a:latin typeface="Segoe UI"/>
              </a:rPr>
              <a:t>rare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8"/>
                </a:solidFill>
                <a:latin typeface="Segoe UI"/>
              </a:rPr>
              <a:t>per event</a:t>
            </a:r>
          </a:p>
        </p:txBody>
      </p:sp>
      <p:sp>
        <p:nvSpPr>
          <p:cNvPr id="33" name="Hexagon 32"/>
          <p:cNvSpPr/>
          <p:nvPr/>
        </p:nvSpPr>
        <p:spPr>
          <a:xfrm>
            <a:off x="3995928" y="3730752"/>
            <a:ext cx="3474720" cy="365760"/>
          </a:xfrm>
          <a:prstGeom prst="hexagon">
            <a:avLst/>
          </a:prstGeom>
          <a:solidFill>
            <a:srgbClr val="1B5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95928" y="381304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DWELL / SPEED / ZONE THRESHOLD CROSSED?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543800" y="3813048"/>
            <a:ext cx="457200" cy="201168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55864" y="3749040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5B6678"/>
                </a:solidFill>
                <a:latin typeface="Segoe UI"/>
              </a:rPr>
              <a:t>NO  →  keep watching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8A93A3"/>
                </a:solidFill>
                <a:latin typeface="Segoe UI"/>
              </a:rPr>
              <a:t>no model is ever called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16168" y="41148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E87122"/>
                </a:solidFill>
                <a:latin typeface="Segoe UI"/>
              </a:rPr>
              <a:t>YES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5614416" y="4096512"/>
            <a:ext cx="237744" cy="201168"/>
          </a:xfrm>
          <a:prstGeom prst="downArrow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Down Arrow 38"/>
          <p:cNvSpPr/>
          <p:nvPr/>
        </p:nvSpPr>
        <p:spPr>
          <a:xfrm>
            <a:off x="5614416" y="5815584"/>
            <a:ext cx="237744" cy="128016"/>
          </a:xfrm>
          <a:prstGeom prst="downArrow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3664" y="5961888"/>
            <a:ext cx="7699248" cy="402336"/>
          </a:xfrm>
          <a:prstGeom prst="rect">
            <a:avLst/>
          </a:prstGeom>
          <a:solidFill>
            <a:srgbClr val="1B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66544" y="6053328"/>
            <a:ext cx="73334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TIMED, CLASSIFIED, EXPLAINED ALERT  —  what, when, and why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47504" y="5998464"/>
            <a:ext cx="18928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B7F5A"/>
                </a:solidFill>
                <a:latin typeface="Segoe UI"/>
              </a:rPr>
              <a:t>operator-ready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2881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Context-Aware Visual Anomaly Detection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52881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86AB"/>
                </a:solidFill>
                <a:latin typeface="Segoe UI"/>
              </a:rPr>
              <a:t>DESIGN PRINCIPLES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400" b="1" i="0">
                <a:solidFill>
                  <a:srgbClr val="141B24"/>
                </a:solidFill>
                <a:latin typeface="Segoe UI"/>
              </a:rPr>
              <a:t>Four Rules That Shaped Every Component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50" b="0" i="0">
                <a:solidFill>
                  <a:srgbClr val="5B6678"/>
                </a:solidFill>
                <a:latin typeface="Segoe UI"/>
              </a:rPr>
              <a:t>Each one came from a measurement, and each one is what makes the pipeline hold together under load.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1109167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50292" cy="106070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6420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8D6E0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6464" y="1636776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1B24"/>
                </a:solidFill>
                <a:latin typeface="Segoe UI"/>
              </a:rPr>
              <a:t>Measure what is measurable; infer only what is not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80" b="0" i="0">
                <a:solidFill>
                  <a:srgbClr val="5B6678"/>
                </a:solidFill>
                <a:latin typeface="Segoe UI"/>
              </a:rPr>
              <a:t>Duration, speed and position are arithmetic — a clock and a map answer them exactly, every frame, for free. Only genuinely visual questions (is that smoke? is that a crash?) are worth a model's time. Splitting the problem this way is what makes the whole thing affordable.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70048"/>
            <a:ext cx="1109167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70048"/>
            <a:ext cx="50292" cy="106070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85292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8D6E0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2825496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1B24"/>
                </a:solidFill>
                <a:latin typeface="Segoe UI"/>
              </a:rPr>
              <a:t>Reasoning may escalate, never overrule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80" b="0" i="0">
                <a:solidFill>
                  <a:srgbClr val="5B6678"/>
                </a:solidFill>
                <a:latin typeface="Segoe UI"/>
              </a:rPr>
              <a:t>The semantic layer can raise severity when it sees a visible hazard, but it cannot cancel an alert the context engine measured. Evidence accumulates in one direction, so the system's confirmed catches are structurally safe.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58768"/>
            <a:ext cx="1109167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58768"/>
            <a:ext cx="50292" cy="106070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404164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8D6E0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4014216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1B24"/>
                </a:solidFill>
                <a:latin typeface="Segoe UI"/>
              </a:rPr>
              <a:t>Stabilise the world before judging it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80" b="0" i="0">
                <a:solidFill>
                  <a:srgbClr val="5B6678"/>
                </a:solidFill>
                <a:latin typeface="Segoe UI"/>
              </a:rPr>
              <a:t>A drone drifts, so a parked car appears to move. Frame-to-frame scene motion is estimated and cancelled first, which turns every downstream measurement into a statement about the world rather than about the camera.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47488"/>
            <a:ext cx="1109167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047488"/>
            <a:ext cx="50292" cy="106070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523036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8D6E0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" y="5202936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1B24"/>
                </a:solidFill>
                <a:latin typeface="Segoe UI"/>
              </a:rPr>
              <a:t>Precision is the product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80" b="0" i="0">
                <a:solidFill>
                  <a:srgbClr val="5B6678"/>
                </a:solidFill>
                <a:latin typeface="Segoe UI"/>
              </a:rPr>
              <a:t>An operator who is paged for nothing stops reading pages. The pipeline is tuned so a confirmed alert is worth acting on — false alarms are treated as the expensive failure, not the harmless 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2881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Context-Aware Visual Anomaly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2881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86AB"/>
                </a:solidFill>
                <a:latin typeface="Segoe UI"/>
              </a:rPr>
              <a:t>WHAT IT DELIVERS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400" b="1" i="0">
                <a:solidFill>
                  <a:srgbClr val="141B24"/>
                </a:solidFill>
                <a:latin typeface="Segoe UI"/>
              </a:rPr>
              <a:t>Real-Time on One Modest GPU, and Measured Throughout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50" b="0" i="0">
                <a:solidFill>
                  <a:srgbClr val="5B6678"/>
                </a:solidFill>
                <a:latin typeface="Segoe UI"/>
              </a:rPr>
              <a:t>Every figure below was produced by our own reimplementation of the official scoring rules, run before each submission.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44752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2697480" cy="457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45920"/>
            <a:ext cx="225856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B5E86"/>
                </a:solidFill>
                <a:latin typeface="Segoe UI"/>
              </a:rPr>
              <a:t>15 fps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1" i="0">
                <a:solidFill>
                  <a:srgbClr val="141B24"/>
                </a:solidFill>
                <a:latin typeface="Segoe UI"/>
              </a:rPr>
              <a:t>sustained on 4K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60" b="0" i="0">
                <a:solidFill>
                  <a:srgbClr val="5B6678"/>
                </a:solidFill>
                <a:latin typeface="Segoe UI"/>
              </a:rPr>
              <a:t>against the ~12.5 fps needed to keep pace with a live feed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444752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64992" y="1444752"/>
            <a:ext cx="2697480" cy="457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645920"/>
            <a:ext cx="225856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B5E86"/>
                </a:solidFill>
                <a:latin typeface="Segoe UI"/>
              </a:rPr>
              <a:t>&lt; 2%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1" i="0">
                <a:solidFill>
                  <a:srgbClr val="141B24"/>
                </a:solidFill>
                <a:latin typeface="Segoe UI"/>
              </a:rPr>
              <a:t>of frames reach a model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60" b="0" i="0">
                <a:solidFill>
                  <a:srgbClr val="5B6678"/>
                </a:solidFill>
                <a:latin typeface="Segoe UI"/>
              </a:rPr>
              <a:t>the gate is what buys the real-time headroom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444752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344" y="1444752"/>
            <a:ext cx="2697480" cy="457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225856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B5E86"/>
                </a:solidFill>
                <a:latin typeface="Segoe UI"/>
              </a:rPr>
              <a:t>3x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1" i="0">
                <a:solidFill>
                  <a:srgbClr val="141B24"/>
                </a:solidFill>
                <a:latin typeface="Segoe UI"/>
              </a:rPr>
              <a:t>detector recall on aerial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60" b="0" i="0">
                <a:solidFill>
                  <a:srgbClr val="5B6678"/>
                </a:solidFill>
                <a:latin typeface="Segoe UI"/>
              </a:rPr>
              <a:t>after retraining for the overhead viewpoint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7696" y="1444752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97696" y="1444752"/>
            <a:ext cx="2697480" cy="457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17152" y="1645920"/>
            <a:ext cx="225856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B5E86"/>
                </a:solidFill>
                <a:latin typeface="Segoe UI"/>
              </a:rPr>
              <a:t>1 GPU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1" i="0">
                <a:solidFill>
                  <a:srgbClr val="141B24"/>
                </a:solidFill>
                <a:latin typeface="Segoe UI"/>
              </a:rPr>
              <a:t>per live feed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60" b="0" i="0">
                <a:solidFill>
                  <a:srgbClr val="5B6678"/>
                </a:solidFill>
                <a:latin typeface="Segoe UI"/>
              </a:rPr>
              <a:t>4GB class hardware, no data centre required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63824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163824"/>
            <a:ext cx="50292" cy="2194560"/>
          </a:xfrm>
          <a:prstGeom prst="rect">
            <a:avLst/>
          </a:prstGeom>
          <a:solidFill>
            <a:srgbClr val="1B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346704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B7F5A"/>
                </a:solidFill>
                <a:latin typeface="Segoe UI"/>
              </a:rPr>
              <a:t>ACCURACY</a:t>
            </a:r>
          </a:p>
          <a:p>
            <a:pPr>
              <a:spcBef>
                <a:spcPts val="900"/>
              </a:spcBef>
            </a:pPr>
            <a:r>
              <a:rPr sz="1200">
                <a:solidFill>
                  <a:srgbClr val="141B24"/>
                </a:solidFill>
                <a:latin typeface="Segoe UI"/>
              </a:rPr>
              <a:t>Anomaly class on short clips     </a:t>
            </a:r>
            <a:r>
              <a:rPr sz="1250" b="1">
                <a:solidFill>
                  <a:srgbClr val="1B7F5A"/>
                </a:solidFill>
                <a:latin typeface="Segoe UI"/>
              </a:rPr>
              <a:t>70%</a:t>
            </a:r>
          </a:p>
          <a:p>
            <a:pPr>
              <a:spcBef>
                <a:spcPts val="900"/>
              </a:spcBef>
            </a:pPr>
            <a:r>
              <a:rPr sz="1200">
                <a:solidFill>
                  <a:srgbClr val="141B24"/>
                </a:solidFill>
                <a:latin typeface="Segoe UI"/>
              </a:rPr>
              <a:t>Event timing, short videos     </a:t>
            </a:r>
            <a:r>
              <a:rPr sz="1250" b="1">
                <a:solidFill>
                  <a:srgbClr val="1B7F5A"/>
                </a:solidFill>
                <a:latin typeface="Segoe UI"/>
              </a:rPr>
              <a:t>72%</a:t>
            </a:r>
          </a:p>
          <a:p>
            <a:pPr>
              <a:spcBef>
                <a:spcPts val="900"/>
              </a:spcBef>
            </a:pPr>
            <a:r>
              <a:rPr sz="1200">
                <a:solidFill>
                  <a:srgbClr val="141B24"/>
                </a:solidFill>
                <a:latin typeface="Segoe UI"/>
              </a:rPr>
              <a:t>Alert precision after tuning     </a:t>
            </a:r>
            <a:r>
              <a:rPr sz="1250" b="1">
                <a:solidFill>
                  <a:srgbClr val="1B7F5A"/>
                </a:solidFill>
                <a:latin typeface="Segoe UI"/>
              </a:rPr>
              <a:t>rising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163824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163824"/>
            <a:ext cx="50292" cy="21945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346704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86AB"/>
                </a:solidFill>
                <a:latin typeface="Segoe UI"/>
              </a:rPr>
              <a:t>ENGINEERED FOR THE UNSEEN SET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30" b="0" i="0">
                <a:solidFill>
                  <a:srgbClr val="5B6678"/>
                </a:solidFill>
                <a:latin typeface="Segoe UI"/>
              </a:rPr>
              <a:t>The pipeline is dataset-agnostic by construction: a new corpus is a single path argument, and the whole run is scripted end to end.</a:t>
            </a:r>
          </a:p>
          <a:p>
            <a:pPr algn="l">
              <a:spcBef>
                <a:spcPts val="700"/>
              </a:spcBef>
              <a:spcAft>
                <a:spcPts val="200"/>
              </a:spcAft>
            </a:pPr>
            <a:r>
              <a:rPr sz="1130" b="0" i="0">
                <a:solidFill>
                  <a:srgbClr val="5B6678"/>
                </a:solidFill>
                <a:latin typeface="Segoe UI"/>
              </a:rPr>
              <a:t>Tuning decisions were validated on held-out video rather than on the leaderboard, so the settings we ship are the ones that generalise — not the ones that flatter a set we can already see.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559552"/>
            <a:ext cx="11091672" cy="786384"/>
          </a:xfrm>
          <a:prstGeom prst="rect">
            <a:avLst/>
          </a:prstGeom>
          <a:solidFill>
            <a:srgbClr val="ECF4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705856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86AB"/>
                </a:solidFill>
                <a:latin typeface="Segoe UI"/>
              </a:rPr>
              <a:t>EVERY ALERT CARRIES ITS REASONING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30" b="0" i="0">
                <a:solidFill>
                  <a:srgbClr val="141B24"/>
                </a:solidFill>
                <a:latin typeface="Segoe UI"/>
              </a:rPr>
              <a:t>Explanations are composed from the facts the pipeline actually measured — the dwell time, the zone, the neighbouring traffic — so an operator can audit a call instead of trusting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2881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Context-Aware Visual Anomaly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2881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86AB"/>
                </a:solidFill>
                <a:latin typeface="Segoe UI"/>
              </a:rPr>
              <a:t>WHERE IT GOES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One Design, Many Feeds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50" b="0" i="0">
                <a:solidFill>
                  <a:srgbClr val="9FB3C8"/>
                </a:solidFill>
                <a:latin typeface="Segoe UI"/>
              </a:rPr>
              <a:t>The gate is not just an optimisation — it is what turns a single-camera demo into a fleet-scale service.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3602736" cy="3200400"/>
          </a:xfrm>
          <a:prstGeom prst="rect">
            <a:avLst/>
          </a:prstGeom>
          <a:solidFill>
            <a:srgbClr val="13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602736" cy="457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929384"/>
            <a:ext cx="309067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86AB"/>
                </a:solidFill>
                <a:latin typeface="Segoe UI"/>
              </a:rPr>
              <a:t>NOW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2E86AB"/>
                </a:solidFill>
                <a:latin typeface="Segoe UI"/>
              </a:rPr>
              <a:t>—  </a:t>
            </a:r>
            <a:r>
              <a:rPr sz="1050">
                <a:solidFill>
                  <a:srgbClr val="CBD8E6"/>
                </a:solidFill>
                <a:latin typeface="Segoe UI"/>
              </a:rPr>
              <a:t>Real-time anomaly detection on a live feed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2E86AB"/>
                </a:solidFill>
                <a:latin typeface="Segoe UI"/>
              </a:rPr>
              <a:t>—  </a:t>
            </a:r>
            <a:r>
              <a:rPr sz="1050">
                <a:solidFill>
                  <a:srgbClr val="CBD8E6"/>
                </a:solidFill>
                <a:latin typeface="Segoe UI"/>
              </a:rPr>
              <a:t>Twelve anomaly categories, timed and explained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2E86AB"/>
                </a:solidFill>
                <a:latin typeface="Segoe UI"/>
              </a:rPr>
              <a:t>—  </a:t>
            </a:r>
            <a:r>
              <a:rPr sz="1050">
                <a:solidFill>
                  <a:srgbClr val="CBD8E6"/>
                </a:solidFill>
                <a:latin typeface="Segoe UI"/>
              </a:rPr>
              <a:t>Runs on commodity 4GB-class hardware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2E86AB"/>
                </a:solidFill>
                <a:latin typeface="Segoe UI"/>
              </a:rPr>
              <a:t>—  </a:t>
            </a:r>
            <a:r>
              <a:rPr sz="1050">
                <a:solidFill>
                  <a:srgbClr val="CBD8E6"/>
                </a:solidFill>
                <a:latin typeface="Segoe UI"/>
              </a:rPr>
              <a:t>One-flag swap to any new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8536" y="1691640"/>
            <a:ext cx="3602736" cy="3200400"/>
          </a:xfrm>
          <a:prstGeom prst="rect">
            <a:avLst/>
          </a:prstGeom>
          <a:solidFill>
            <a:srgbClr val="13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88536" y="1691640"/>
            <a:ext cx="3602736" cy="4572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929384"/>
            <a:ext cx="309067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87122"/>
                </a:solidFill>
                <a:latin typeface="Segoe UI"/>
              </a:rPr>
              <a:t>NEXT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E87122"/>
                </a:solidFill>
                <a:latin typeface="Segoe UI"/>
              </a:rPr>
              <a:t>—  </a:t>
            </a:r>
            <a:r>
              <a:rPr sz="1050">
                <a:solidFill>
                  <a:srgbClr val="CBD8E6"/>
                </a:solidFill>
                <a:latin typeface="Segoe UI"/>
              </a:rPr>
              <a:t>Context engine drives event timing end to end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E87122"/>
                </a:solidFill>
                <a:latin typeface="Segoe UI"/>
              </a:rPr>
              <a:t>—  </a:t>
            </a:r>
            <a:r>
              <a:rPr sz="1050">
                <a:solidFill>
                  <a:srgbClr val="CBD8E6"/>
                </a:solidFill>
                <a:latin typeface="Segoe UI"/>
              </a:rPr>
              <a:t>Distilled reasoning model, trained on teacher labels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E87122"/>
                </a:solidFill>
                <a:latin typeface="Segoe UI"/>
              </a:rPr>
              <a:t>—  </a:t>
            </a:r>
            <a:r>
              <a:rPr sz="1050">
                <a:solidFill>
                  <a:srgbClr val="CBD8E6"/>
                </a:solidFill>
                <a:latin typeface="Segoe UI"/>
              </a:rPr>
              <a:t>Zone calibration shared across a camera fleet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E87122"/>
                </a:solidFill>
                <a:latin typeface="Segoe UI"/>
              </a:rPr>
              <a:t>—  </a:t>
            </a:r>
            <a:r>
              <a:rPr sz="1050">
                <a:solidFill>
                  <a:srgbClr val="CBD8E6"/>
                </a:solidFill>
                <a:latin typeface="Segoe UI"/>
              </a:rPr>
              <a:t>Operator feedback folded back as training signal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28432" y="1691640"/>
            <a:ext cx="3602736" cy="3200400"/>
          </a:xfrm>
          <a:prstGeom prst="rect">
            <a:avLst/>
          </a:prstGeom>
          <a:solidFill>
            <a:srgbClr val="13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28432" y="1691640"/>
            <a:ext cx="3602736" cy="45720"/>
          </a:xfrm>
          <a:prstGeom prst="rect">
            <a:avLst/>
          </a:prstGeom>
          <a:solidFill>
            <a:srgbClr val="1B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4" y="1929384"/>
            <a:ext cx="309067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7F5A"/>
                </a:solidFill>
                <a:latin typeface="Segoe UI"/>
              </a:rPr>
              <a:t>AT SCALE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1B7F5A"/>
                </a:solidFill>
                <a:latin typeface="Segoe UI"/>
              </a:rPr>
              <a:t>—  </a:t>
            </a:r>
            <a:r>
              <a:rPr sz="1050">
                <a:solidFill>
                  <a:srgbClr val="CBD8E6"/>
                </a:solidFill>
                <a:latin typeface="Segoe UI"/>
              </a:rPr>
              <a:t>Many feeds per GPU, because reasoning stays rare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1B7F5A"/>
                </a:solidFill>
                <a:latin typeface="Segoe UI"/>
              </a:rPr>
              <a:t>—  </a:t>
            </a:r>
            <a:r>
              <a:rPr sz="1050">
                <a:solidFill>
                  <a:srgbClr val="CBD8E6"/>
                </a:solidFill>
                <a:latin typeface="Segoe UI"/>
              </a:rPr>
              <a:t>Central policy, per-site thresholds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1B7F5A"/>
                </a:solidFill>
                <a:latin typeface="Segoe UI"/>
              </a:rPr>
              <a:t>—  </a:t>
            </a:r>
            <a:r>
              <a:rPr sz="1050">
                <a:solidFill>
                  <a:srgbClr val="CBD8E6"/>
                </a:solidFill>
                <a:latin typeface="Segoe UI"/>
              </a:rPr>
              <a:t>New anomaly types added as rules or as data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1B7F5A"/>
                </a:solidFill>
                <a:latin typeface="Segoe UI"/>
              </a:rPr>
              <a:t>—  </a:t>
            </a:r>
            <a:r>
              <a:rPr sz="1050">
                <a:solidFill>
                  <a:srgbClr val="CBD8E6"/>
                </a:solidFill>
                <a:latin typeface="Segoe UI"/>
              </a:rPr>
              <a:t>Cost grows with events, not with cameras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38928"/>
            <a:ext cx="11091672" cy="1060704"/>
          </a:xfrm>
          <a:prstGeom prst="rect">
            <a:avLst/>
          </a:prstGeom>
          <a:solidFill>
            <a:srgbClr val="16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138928"/>
            <a:ext cx="64008" cy="106070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2180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86AB"/>
                </a:solidFill>
                <a:latin typeface="Segoe UI"/>
              </a:rPr>
              <a:t>THE TAKEAWAY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Anomaly detection becomes affordable the moment you stop asking a model to watch everything. Measure context continuously, spend reasoning rarely, and the same system that supervises one camera can supervise a fleet.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