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7122"/>
                </a:solidFill>
                <a:latin typeface="Segoe UI"/>
              </a:rPr>
              <a:t>FLYTBASE AHC · VISUAL INTELLIGENCE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Context-Dependent Anomaly Detection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in Aerial Drone Video — Real-Time, on a 4 GB GPU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0" i="1">
                <a:solidFill>
                  <a:srgbClr val="C9D2E0"/>
                </a:solidFill>
                <a:latin typeface="Segoe UI"/>
              </a:rPr>
              <a:t>Noticing is cheap; reasoning is not. So they run as different stages — a small VLM is consulted on only the 0.19–1.9% of frames that earn it, and every other decision is made by arithmetic.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87122"/>
                </a:solidFill>
                <a:latin typeface="Segoe UI"/>
              </a:rPr>
              <a:t>50.7 / 100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9AA6B8"/>
                </a:solidFill>
                <a:latin typeface="Segoe UI"/>
              </a:rPr>
              <a:t>public arena · 4th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7288" y="5303520"/>
            <a:ext cx="10972" cy="640080"/>
          </a:xfrm>
          <a:prstGeom prst="rect">
            <a:avLst/>
          </a:prstGeom>
          <a:solidFill>
            <a:srgbClr val="2A3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525780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87122"/>
                </a:solidFill>
                <a:latin typeface="Segoe UI"/>
              </a:rPr>
              <a:t>14.9 fps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9AA6B8"/>
                </a:solidFill>
                <a:latin typeface="Segoe UI"/>
              </a:rPr>
              <a:t>full pipeline, real-time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5303520"/>
            <a:ext cx="10972" cy="640080"/>
          </a:xfrm>
          <a:prstGeom prst="rect">
            <a:avLst/>
          </a:prstGeom>
          <a:solidFill>
            <a:srgbClr val="2A3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525780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87122"/>
                </a:solidFill>
                <a:latin typeface="Segoe UI"/>
              </a:rPr>
              <a:t>GTX 1650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9AA6B8"/>
                </a:solidFill>
                <a:latin typeface="Segoe UI"/>
              </a:rPr>
              <a:t>4 GB, no Tensor Cores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78824" y="5303520"/>
            <a:ext cx="10972" cy="640080"/>
          </a:xfrm>
          <a:prstGeom prst="rect">
            <a:avLst/>
          </a:prstGeom>
          <a:solidFill>
            <a:srgbClr val="2A3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0264" y="525780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87122"/>
                </a:solidFill>
                <a:latin typeface="Segoe UI"/>
              </a:rPr>
              <a:t>3.3 GB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9AA6B8"/>
                </a:solidFill>
                <a:latin typeface="Segoe UI"/>
              </a:rPr>
              <a:t>fine-tuned VLM, merged &amp;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87122"/>
                </a:solidFill>
                <a:latin typeface="Segoe UI"/>
              </a:rPr>
              <a:t>APPROACH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 i="0">
                <a:solidFill>
                  <a:srgbClr val="111827"/>
                </a:solidFill>
                <a:latin typeface="Segoe UI"/>
              </a:rPr>
              <a:t>Three Stages, Split by What Each Component Is Good At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50" b="0" i="0">
                <a:solidFill>
                  <a:srgbClr val="5B6678"/>
                </a:solidFill>
                <a:latin typeface="Segoe UI"/>
              </a:rPr>
              <a:t>Cheap per-track arithmetic decides the boolean; the VLM only describes what it sees.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0972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267004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670048" cy="5486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92224"/>
            <a:ext cx="230428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8A93A3"/>
                </a:solidFill>
                <a:latin typeface="Segoe UI"/>
              </a:rPr>
              <a:t>STAGE 1 · every frame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50" b="1" i="0">
                <a:solidFill>
                  <a:srgbClr val="111827"/>
                </a:solidFill>
                <a:latin typeface="Segoe UI"/>
              </a:rPr>
              <a:t>YOLO26n + ByteTrack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 i="0">
                <a:solidFill>
                  <a:srgbClr val="5B6678"/>
                </a:solidFill>
                <a:latin typeface="Segoe UI"/>
              </a:rPr>
              <a:t>Ego-motion compensated (Shi-Tomasi + LK + RANSAC partial affine) — a drone pans, so a parked car has non-zero image velocity unless positions are expressed in a stabilised reference frame.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2807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8DEE6"/>
                </a:solidFill>
                <a:latin typeface="Segoe UI"/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572768"/>
            <a:ext cx="267004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572768"/>
            <a:ext cx="2670048" cy="5486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92224"/>
            <a:ext cx="230428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8A93A3"/>
                </a:solidFill>
                <a:latin typeface="Segoe UI"/>
              </a:rPr>
              <a:t>STAGE 2 · every frame, no model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50" b="1" i="0">
                <a:solidFill>
                  <a:srgbClr val="111827"/>
                </a:solidFill>
                <a:latin typeface="Segoe UI"/>
              </a:rPr>
              <a:t>Per-track state machine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 i="0">
                <a:solidFill>
                  <a:srgbClr val="5B6678"/>
                </a:solidFill>
                <a:latin typeface="Segoe UI"/>
              </a:rPr>
              <a:t>Dwell time, speed, zone, neighbour motion. Stopped-vehicle, wrong-way, congestion, loitering rules — all arithmetic, no inference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2472" y="2807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8DEE6"/>
                </a:solidFill>
                <a:latin typeface="Segoe UI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72768"/>
            <a:ext cx="267004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72768"/>
            <a:ext cx="2670048" cy="5486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92224"/>
            <a:ext cx="230428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8A93A3"/>
                </a:solidFill>
                <a:latin typeface="Segoe UI"/>
              </a:rPr>
              <a:t>STAGE 2b · sampled frames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50" b="1" i="0">
                <a:solidFill>
                  <a:srgbClr val="111827"/>
                </a:solidFill>
                <a:latin typeface="Segoe UI"/>
              </a:rPr>
              <a:t>MobileNetV3-Small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 i="0">
                <a:solidFill>
                  <a:srgbClr val="5B6678"/>
                </a:solidFill>
                <a:latin typeface="Segoe UI"/>
              </a:rPr>
              <a:t>Owns appearance classes only — fire, smoke, flood, spill — because these ARE visible in a single frame. Threshold 0.72, clip-mean pooled.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2807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8DEE6"/>
                </a:solidFill>
                <a:latin typeface="Segoe U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572768"/>
            <a:ext cx="267004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572768"/>
            <a:ext cx="2670048" cy="54864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792224"/>
            <a:ext cx="230428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87122"/>
                </a:solidFill>
                <a:latin typeface="Segoe UI"/>
              </a:rPr>
              <a:t>STAGE 3 · event-triggered only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50" b="1" i="0">
                <a:solidFill>
                  <a:srgbClr val="111827"/>
                </a:solidFill>
                <a:latin typeface="Segoe UI"/>
              </a:rPr>
              <a:t>Qwen2.5-VL-3B (QLoRA fine-tuned)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 i="0">
                <a:solidFill>
                  <a:srgbClr val="5B6678"/>
                </a:solidFill>
                <a:latin typeface="Segoe UI"/>
              </a:rPr>
              <a:t>Consulted on 0.19–1.9% of frames. Describes the scene; may ESCALATE a hazard to anomalous, never silently clears a stop the tracker measured.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72000"/>
            <a:ext cx="11091672" cy="1691640"/>
          </a:xfrm>
          <a:prstGeom prst="rect">
            <a:avLst/>
          </a:prstGeom>
          <a:solidFill>
            <a:srgbClr val="FDF3E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54864" cy="169164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548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87122"/>
                </a:solidFill>
                <a:latin typeface="Segoe UI"/>
              </a:rPr>
              <a:t>THE CONSTRAINT EVERYTHING BENDS AROUND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50" b="0" i="0">
                <a:solidFill>
                  <a:srgbClr val="111827"/>
                </a:solidFill>
                <a:latin typeface="Segoe UI"/>
              </a:rPr>
              <a:t>A still frame does not contain motion — a moving car and a stopped car are pixel-identical in one image. Asked to judge motion directly, Qwen2.5-VL-3B scored 3/6 (chance) across four prompt revisions, while its prose stayed accurate. That is why the boolean verdict belongs to Stage 2's arithmetic, and the VLM's job is narrowed to description plus one-way escalation.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FlytBase AHC — Visual Intelligence Hackathon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4710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87122"/>
                </a:solidFill>
                <a:latin typeface="Segoe UI"/>
              </a:rPr>
              <a:t>ENGINEERING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 i="0">
                <a:solidFill>
                  <a:srgbClr val="111827"/>
                </a:solidFill>
                <a:latin typeface="Segoe UI"/>
              </a:rPr>
              <a:t>What We Did With the Measurements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50" b="0" i="0">
                <a:solidFill>
                  <a:srgbClr val="5B6678"/>
                </a:solidFill>
                <a:latin typeface="Segoe UI"/>
              </a:rPr>
              <a:t>Three decisions this build made — one shipped, one rejected, one refused.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0972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529584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529584" cy="384048"/>
          </a:xfrm>
          <a:prstGeom prst="rect">
            <a:avLst/>
          </a:prstGeom>
          <a:solidFill>
            <a:srgbClr val="1B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35295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39696"/>
            <a:ext cx="309067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11827"/>
                </a:solidFill>
                <a:latin typeface="Segoe UI"/>
              </a:rPr>
              <a:t>Fine-tuned the VLM, merged end-to-end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QLoRA on Kaggle T4 (4 GB VRAM cannot hold weights + gradients + optimizer state locally) → merged into fp16 → GGUF → Q4_K_M → Ollama.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150" b="0" i="0">
                <a:solidFill>
                  <a:srgbClr val="5B6678"/>
                </a:solidFill>
                <a:latin typeface="Segoe UI"/>
              </a:rPr>
              <a:t>Verified 504 LoRA modules injected before export — a silent no-op merge would have shipped the stock model labelled "fine-tuned". It now answers correctly on a case stock scored at chance.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1104" y="1572768"/>
            <a:ext cx="3529584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1104" y="1572768"/>
            <a:ext cx="3529584" cy="384048"/>
          </a:xfrm>
          <a:prstGeom prst="rect">
            <a:avLst/>
          </a:prstGeom>
          <a:solidFill>
            <a:srgbClr val="B4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1572768"/>
            <a:ext cx="35295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REJECTED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39696"/>
            <a:ext cx="309067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11827"/>
                </a:solidFill>
                <a:latin typeface="Segoe UI"/>
              </a:rPr>
              <a:t>Killed our own idea with data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Built a second classifier over ego-compensated motion-difference frames, aimed at the classes the first classifier couldn't localise.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150" b="0" i="0">
                <a:solidFill>
                  <a:srgbClr val="5B6678"/>
                </a:solidFill>
                <a:latin typeface="Segoe UI"/>
              </a:rPr>
              <a:t>Trained well (val macro-recall 0.705) — then failed both real tests: fired on 100% of a clip that is 2% anomalous, and NET −1 on class accuracy. Not shipped.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572768"/>
            <a:ext cx="3529584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572768"/>
            <a:ext cx="3529584" cy="384048"/>
          </a:xfrm>
          <a:prstGeom prst="rect">
            <a:avLst/>
          </a:prstGeom>
          <a:solidFill>
            <a:srgbClr val="5B6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1572768"/>
            <a:ext cx="35295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REFUSED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139696"/>
            <a:ext cx="309067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11827"/>
                </a:solidFill>
                <a:latin typeface="Segoe UI"/>
              </a:rPr>
              <a:t>Declined to fit the visible test set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Per-class decision thresholds tuned on the public 34-video test set lift in-sample macro-F1 to 0.289.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150" b="0" i="0">
                <a:solidFill>
                  <a:srgbClr val="5B6678"/>
                </a:solidFill>
                <a:latin typeface="Segoe UI"/>
              </a:rPr>
              <a:t>Its own leave-one-video-out check falls to 0.230 — worse than the untuned global rule. Three separate threshold-fitting attempts measured and rejected on this basis.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4710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FlytBase AHC — Visual Intelligence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87122"/>
                </a:solidFill>
                <a:latin typeface="Segoe UI"/>
              </a:rPr>
              <a:t>RESULTS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 i="0">
                <a:solidFill>
                  <a:srgbClr val="111827"/>
                </a:solidFill>
                <a:latin typeface="Segoe UI"/>
              </a:rPr>
              <a:t>Measured, Not Claimed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50" b="0" i="0">
                <a:solidFill>
                  <a:srgbClr val="5B6678"/>
                </a:solidFill>
                <a:latin typeface="Segoe UI"/>
              </a:rPr>
              <a:t>Every number below has a reproduction command in the repo.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0972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54406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73936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6678"/>
                </a:solidFill>
                <a:latin typeface="Segoe UI"/>
              </a:rPr>
              <a:t>THROUGHPUT · 4K 25 FPS SOURCE, GTX 1650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84832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Segoe UI"/>
              </a:rPr>
              <a:t>Stage 1, threaded decode</a:t>
            </a:r>
            <a:r>
              <a:rPr sz="1200" b="1">
                <a:solidFill>
                  <a:srgbClr val="1B7F5A"/>
                </a:solidFill>
                <a:latin typeface="Consolas"/>
              </a:rPr>
              <a:t>   26.6 fps</a:t>
            </a:r>
          </a:p>
          <a:p>
            <a:r>
              <a:rPr sz="1000">
                <a:solidFill>
                  <a:srgbClr val="5B6678"/>
                </a:solidFill>
                <a:latin typeface="Segoe UI"/>
              </a:rPr>
              <a:t>1.06× real-time on 4K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0545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Segoe UI"/>
              </a:rPr>
              <a:t>Full pipeline, rules, stride 2</a:t>
            </a:r>
            <a:r>
              <a:rPr sz="1200" b="1">
                <a:solidFill>
                  <a:srgbClr val="1B7F5A"/>
                </a:solidFill>
                <a:latin typeface="Consolas"/>
              </a:rPr>
              <a:t>   14.9 fps</a:t>
            </a:r>
          </a:p>
          <a:p>
            <a:r>
              <a:rPr sz="1000">
                <a:solidFill>
                  <a:srgbClr val="5B6678"/>
                </a:solidFill>
                <a:latin typeface="Segoe UI"/>
              </a:rPr>
              <a:t>vs 12.5 needed — REAL-TIME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Segoe UI"/>
              </a:rPr>
              <a:t>Serial decode (reverted)</a:t>
            </a:r>
            <a:r>
              <a:rPr sz="1200" b="1">
                <a:solidFill>
                  <a:srgbClr val="5B6678"/>
                </a:solidFill>
                <a:latin typeface="Consolas"/>
              </a:rPr>
              <a:t>   20.0 fps</a:t>
            </a:r>
          </a:p>
          <a:p>
            <a:r>
              <a:rPr sz="1000">
                <a:solidFill>
                  <a:srgbClr val="5B6678"/>
                </a:solidFill>
                <a:latin typeface="Segoe UI"/>
              </a:rPr>
              <a:t>decode + detect serialise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4670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Segoe UI"/>
              </a:rPr>
              <a:t>Hybrid, VLM in the loop</a:t>
            </a:r>
            <a:r>
              <a:rPr sz="1200" b="1">
                <a:solidFill>
                  <a:srgbClr val="B4332E"/>
                </a:solidFill>
                <a:latin typeface="Consolas"/>
              </a:rPr>
              <a:t>   6.8 fps</a:t>
            </a:r>
          </a:p>
          <a:p>
            <a:r>
              <a:rPr sz="1000">
                <a:solidFill>
                  <a:srgbClr val="5B6678"/>
                </a:solidFill>
                <a:latin typeface="Segoe UI"/>
              </a:rPr>
              <a:t>one 4GB card can't run both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572768"/>
            <a:ext cx="54406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73936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87122"/>
                </a:solidFill>
                <a:latin typeface="Segoe UI"/>
              </a:rPr>
              <a:t>PUBLIC ARENA · 50.7 / 100 · 4TH OF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2140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>
                <a:solidFill>
                  <a:srgbClr val="111827"/>
                </a:solidFill>
                <a:latin typeface="Segoe UI"/>
              </a:rPr>
              <a:t>Level 1  clip classification</a:t>
            </a:r>
            <a:r>
              <a:rPr sz="1300" b="1">
                <a:solidFill>
                  <a:srgbClr val="1B7F5A"/>
                </a:solidFill>
                <a:latin typeface="Consolas"/>
              </a:rPr>
              <a:t>     17.5 / 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2374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>
                <a:solidFill>
                  <a:srgbClr val="111827"/>
                </a:solidFill>
                <a:latin typeface="Segoe UI"/>
              </a:rPr>
              <a:t>Level 2  when it happens</a:t>
            </a:r>
            <a:r>
              <a:rPr sz="1300" b="1">
                <a:solidFill>
                  <a:srgbClr val="1B7F5A"/>
                </a:solidFill>
                <a:latin typeface="Consolas"/>
              </a:rPr>
              <a:t>     25.2 / 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926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>
                <a:solidFill>
                  <a:srgbClr val="111827"/>
                </a:solidFill>
                <a:latin typeface="Segoe UI"/>
              </a:rPr>
              <a:t>Level 3  long context</a:t>
            </a:r>
            <a:r>
              <a:rPr sz="1300" b="1">
                <a:solidFill>
                  <a:srgbClr val="B4332E"/>
                </a:solidFill>
                <a:latin typeface="Consolas"/>
              </a:rPr>
              <a:t>     8.0 / 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401568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678"/>
                </a:solidFill>
                <a:latin typeface="Segoe UI"/>
              </a:rPr>
              <a:t>score_arena.py reproduces the live leaderboard exactly — every match and false-alarm count — so changes are measured locally, never guessed.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24528"/>
            <a:ext cx="110916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07408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6678"/>
                </a:solidFill>
                <a:latin typeface="Segoe UI"/>
              </a:rPr>
              <a:t>THE DETECTOR WAS THE ORIGINAL WEAK LINK · VisDrone val, 100 images, 5,189 objects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B6678"/>
                </a:solidFill>
                <a:latin typeface="Consolas"/>
              </a:rPr>
              <a:t>config                                </a:t>
            </a:r>
            <a:r>
              <a:rPr sz="1200" b="1">
                <a:solidFill>
                  <a:srgbClr val="5B6678"/>
                </a:solidFill>
                <a:latin typeface="Consolas"/>
              </a:rPr>
              <a:t>overall recall    </a:t>
            </a:r>
            <a:r>
              <a:rPr sz="1200" b="1">
                <a:solidFill>
                  <a:srgbClr val="5B6678"/>
                </a:solidFill>
                <a:latin typeface="Consolas"/>
              </a:rPr>
              <a:t>tiny objects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3892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Consolas"/>
              </a:rPr>
              <a:t>stock — imgsz 640, conf 0.25          </a:t>
            </a:r>
            <a:r>
              <a:rPr sz="1200" b="0">
                <a:solidFill>
                  <a:srgbClr val="111827"/>
                </a:solidFill>
                <a:latin typeface="Consolas"/>
              </a:rPr>
              <a:t>0.152             </a:t>
            </a:r>
            <a:r>
              <a:rPr sz="1200" b="0">
                <a:solidFill>
                  <a:srgbClr val="111827"/>
                </a:solidFill>
                <a:latin typeface="Consolas"/>
              </a:rPr>
              <a:t>0.008  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49824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Consolas"/>
              </a:rPr>
              <a:t>aerial — imgsz 1280, conf 0.10        </a:t>
            </a:r>
            <a:r>
              <a:rPr sz="1200" b="1">
                <a:solidFill>
                  <a:srgbClr val="1B7F5A"/>
                </a:solidFill>
                <a:latin typeface="Consolas"/>
              </a:rPr>
              <a:t>0.413             </a:t>
            </a:r>
            <a:r>
              <a:rPr sz="1200" b="1">
                <a:solidFill>
                  <a:srgbClr val="1B7F5A"/>
                </a:solidFill>
                <a:latin typeface="Consolas"/>
              </a:rPr>
              <a:t>0.149   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8463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6678"/>
                </a:solidFill>
                <a:latin typeface="Segoe UI"/>
              </a:rPr>
              <a:t>Stock settings miss 85% of aerial objects. Config alone nearly triples recall, for free, and still clears 25 fps.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FlytBase AHC — Visual Intelligence Hackathon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4710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87122"/>
                </a:solidFill>
                <a:latin typeface="Segoe UI"/>
              </a:rPr>
              <a:t>LIMITATIONS &amp; WHAT'S NEXT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 i="0">
                <a:solidFill>
                  <a:srgbClr val="111827"/>
                </a:solidFill>
                <a:latin typeface="Segoe UI"/>
              </a:rPr>
              <a:t>The Open Problem Is Named, Not Hidden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50" b="0" i="0">
                <a:solidFill>
                  <a:srgbClr val="5B6678"/>
                </a:solidFill>
                <a:latin typeface="Segoe UI"/>
              </a:rPr>
              <a:t>Level 3 is a diagnosed gap with a specific next step — not an unknown.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0972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640080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54864" cy="4343400"/>
          </a:xfrm>
          <a:prstGeom prst="rect">
            <a:avLst/>
          </a:prstGeom>
          <a:solidFill>
            <a:srgbClr val="B4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58521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4332E"/>
                </a:solidFill>
                <a:latin typeface="Segoe UI"/>
              </a:rPr>
              <a:t>WHY LEVEL 3 SCORES 8.0 / 40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111827"/>
                </a:solidFill>
                <a:latin typeface="Segoe UI"/>
              </a:rPr>
              <a:t>The evidence is a property of one track, not of any frame.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50" b="0" i="0">
                <a:solidFill>
                  <a:srgbClr val="5B6678"/>
                </a:solidFill>
                <a:latin typeface="Segoe UI"/>
              </a:rPr>
              <a:t>On a 6-minute clip, 2% of the runtime is anomalous (a person dwelling too long) while 98% shows ordinary motion in the same scene. Any whole-frame classifier — RGB or motion-difference — answers "what kind of scene is this", which cannot separate that 2% from the rest, at any threshold.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Measured, not assumed: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B4332E"/>
                </a:solidFill>
                <a:latin typeface="Segoe UI"/>
              </a:rPr>
              <a:t>▪ </a:t>
            </a:r>
            <a:r>
              <a:rPr sz="1150">
                <a:solidFill>
                  <a:srgbClr val="5B6678"/>
                </a:solidFill>
                <a:latin typeface="Segoe UI"/>
              </a:rPr>
              <a:t>Confidence-ranked windows put the wrong one first in all 4 L3 videos.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B4332E"/>
                </a:solidFill>
                <a:latin typeface="Segoe UI"/>
              </a:rPr>
              <a:t>▪ </a:t>
            </a:r>
            <a:r>
              <a:rPr sz="1150">
                <a:solidFill>
                  <a:srgbClr val="5B6678"/>
                </a:solidFill>
                <a:latin typeface="Segoe UI"/>
              </a:rPr>
              <a:t>A dedicated motion-difference classifier still fired on 100% of a clip whose ground truth is 2% anomalous.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B4332E"/>
                </a:solidFill>
                <a:latin typeface="Segoe UI"/>
              </a:rPr>
              <a:t>▪ </a:t>
            </a:r>
            <a:r>
              <a:rPr sz="1150">
                <a:solidFill>
                  <a:srgbClr val="5B6678"/>
                </a:solidFill>
                <a:latin typeface="Segoe UI"/>
              </a:rPr>
              <a:t>Stage 2's tracker already computes per-track dwell, speed and zone — the only component with genuine temporal 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87184" y="1572768"/>
            <a:ext cx="445312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43216" y="1773936"/>
            <a:ext cx="3977639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87122"/>
                </a:solidFill>
                <a:latin typeface="Segoe UI"/>
              </a:rPr>
              <a:t>NEXT STEP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111827"/>
                </a:solidFill>
                <a:latin typeface="Segoe UI"/>
              </a:rPr>
              <a:t>Emit intervals from the tracker's own state, not from a classifier's per-frame score.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E87122"/>
                </a:solidFill>
                <a:latin typeface="Segoe UI"/>
              </a:rPr>
              <a:t>→ </a:t>
            </a:r>
            <a:r>
              <a:rPr sz="1150">
                <a:solidFill>
                  <a:srgbClr val="5B6678"/>
                </a:solidFill>
                <a:latin typeface="Segoe UI"/>
              </a:rPr>
              <a:t>Stage 2 already flags dwell-time crossings per track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E87122"/>
                </a:solidFill>
                <a:latin typeface="Segoe UI"/>
              </a:rPr>
              <a:t>→ </a:t>
            </a:r>
            <a:r>
              <a:rPr sz="1150">
                <a:solidFill>
                  <a:srgbClr val="5B6678"/>
                </a:solidFill>
                <a:latin typeface="Segoe UI"/>
              </a:rPr>
              <a:t>Convert those crossings directly into timed windows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E87122"/>
                </a:solidFill>
                <a:latin typeface="Segoe UI"/>
              </a:rPr>
              <a:t>→ </a:t>
            </a:r>
            <a:r>
              <a:rPr sz="1150">
                <a:solidFill>
                  <a:srgbClr val="5B6678"/>
                </a:solidFill>
                <a:latin typeface="Segoe UI"/>
              </a:rPr>
              <a:t>Reserve the classifier for what it's proven at: Level 1/2 class labels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87184" y="4361688"/>
            <a:ext cx="4453128" cy="1554480"/>
          </a:xfrm>
          <a:prstGeom prst="rect">
            <a:avLst/>
          </a:prstGeom>
          <a:solidFill>
            <a:srgbClr val="F0F3F7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6" y="4544568"/>
            <a:ext cx="39776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B6678"/>
                </a:solidFill>
                <a:latin typeface="Segoe UI"/>
              </a:rPr>
              <a:t>WHY WE'RE SHOWING THIS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A negative result, measured and understood, is worth more than a vague claim of success. Every rejection on this deck cost a real GPU run to disprove — none was assumed.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4710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FlytBase AHC — Visual Intelligence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4710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