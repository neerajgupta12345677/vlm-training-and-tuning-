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2438"/>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515600" cy="457200"/>
          </a:xfrm>
          <a:prstGeom prst="rect">
            <a:avLst/>
          </a:prstGeom>
          <a:noFill/>
        </p:spPr>
        <p:txBody>
          <a:bodyPr wrap="square" lIns="0" rIns="0" tIns="0" bIns="0">
            <a:spAutoFit/>
          </a:bodyPr>
          <a:lstStyle/>
          <a:p>
            <a:pPr algn="l">
              <a:spcBef>
                <a:spcPts val="0"/>
              </a:spcBef>
              <a:spcAft>
                <a:spcPts val="200"/>
              </a:spcAft>
            </a:pPr>
            <a:r>
              <a:rPr sz="1300" b="1" i="0">
                <a:solidFill>
                  <a:srgbClr val="2E86AB"/>
                </a:solidFill>
                <a:latin typeface="Segoe UI"/>
              </a:rPr>
              <a:t>AN EXPLAINER, IN PLAIN LANGUAGE</a:t>
            </a:r>
          </a:p>
        </p:txBody>
      </p:sp>
      <p:sp>
        <p:nvSpPr>
          <p:cNvPr id="4" name="TextBox 3"/>
          <p:cNvSpPr txBox="1"/>
          <p:nvPr/>
        </p:nvSpPr>
        <p:spPr>
          <a:xfrm>
            <a:off x="822960" y="1874519"/>
            <a:ext cx="10515600" cy="1737360"/>
          </a:xfrm>
          <a:prstGeom prst="rect">
            <a:avLst/>
          </a:prstGeom>
          <a:noFill/>
        </p:spPr>
        <p:txBody>
          <a:bodyPr wrap="square" lIns="0" rIns="0" tIns="0" bIns="0">
            <a:spAutoFit/>
          </a:bodyPr>
          <a:lstStyle/>
          <a:p>
            <a:pPr algn="l">
              <a:spcBef>
                <a:spcPts val="0"/>
              </a:spcBef>
              <a:spcAft>
                <a:spcPts val="200"/>
              </a:spcAft>
            </a:pPr>
            <a:r>
              <a:rPr sz="4200" b="1" i="0">
                <a:solidFill>
                  <a:srgbClr val="FFFFFF"/>
                </a:solidFill>
                <a:latin typeface="Segoe UI"/>
              </a:rPr>
              <a:t>Visual Anomaly Detection</a:t>
            </a:r>
          </a:p>
          <a:p>
            <a:pPr algn="l">
              <a:spcBef>
                <a:spcPts val="400"/>
              </a:spcBef>
              <a:spcAft>
                <a:spcPts val="200"/>
              </a:spcAft>
            </a:pPr>
            <a:r>
              <a:rPr sz="3000" b="1" i="0">
                <a:solidFill>
                  <a:srgbClr val="C9D2E0"/>
                </a:solidFill>
                <a:latin typeface="Segoe UI"/>
              </a:rPr>
              <a:t>Teaching a Camera to Notice What's Wrong</a:t>
            </a:r>
          </a:p>
        </p:txBody>
      </p:sp>
      <p:sp>
        <p:nvSpPr>
          <p:cNvPr id="5" name="TextBox 4"/>
          <p:cNvSpPr txBox="1"/>
          <p:nvPr/>
        </p:nvSpPr>
        <p:spPr>
          <a:xfrm>
            <a:off x="822960" y="3794760"/>
            <a:ext cx="9875520" cy="1188720"/>
          </a:xfrm>
          <a:prstGeom prst="rect">
            <a:avLst/>
          </a:prstGeom>
          <a:noFill/>
        </p:spPr>
        <p:txBody>
          <a:bodyPr wrap="square" lIns="0" rIns="0" tIns="0" bIns="0">
            <a:spAutoFit/>
          </a:bodyPr>
          <a:lstStyle/>
          <a:p>
            <a:pPr algn="l">
              <a:spcBef>
                <a:spcPts val="0"/>
              </a:spcBef>
              <a:spcAft>
                <a:spcPts val="200"/>
              </a:spcAft>
            </a:pPr>
            <a:r>
              <a:rPr sz="1500" b="0" i="1">
                <a:solidFill>
                  <a:srgbClr val="C9D2E0"/>
                </a:solidFill>
                <a:latin typeface="Segoe UI"/>
              </a:rPr>
              <a:t>This deck answers three questions in order: what problem are we solving, what did we build to solve it, and why did we build it that way instead of some other way — explained so that no prior AI background is needed.</a:t>
            </a:r>
          </a:p>
        </p:txBody>
      </p:sp>
      <p:sp>
        <p:nvSpPr>
          <p:cNvPr id="6" name="Rectangle 5"/>
          <p:cNvSpPr/>
          <p:nvPr/>
        </p:nvSpPr>
        <p:spPr>
          <a:xfrm>
            <a:off x="822960" y="5212080"/>
            <a:ext cx="10515600" cy="914400"/>
          </a:xfrm>
          <a:prstGeom prst="rect">
            <a:avLst/>
          </a:prstGeom>
          <a:solidFill>
            <a:srgbClr val="1B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5376672"/>
            <a:ext cx="10058400" cy="64008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THE IDEA IN ONE SENTENCE</a:t>
            </a:r>
          </a:p>
          <a:p>
            <a:pPr algn="l">
              <a:spcBef>
                <a:spcPts val="400"/>
              </a:spcBef>
              <a:spcAft>
                <a:spcPts val="200"/>
              </a:spcAft>
            </a:pPr>
            <a:r>
              <a:rPr sz="1450" b="0" i="0">
                <a:solidFill>
                  <a:srgbClr val="FFFFFF"/>
                </a:solidFill>
                <a:latin typeface="Segoe UI"/>
              </a:rPr>
              <a:t>Watch every video cheaply for the first ninety seconds of a task; call in an expensive expert only for the handful of moments that actually look wrong.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THE PROBLEM, IN PLAIN TERMS</a:t>
            </a:r>
          </a:p>
          <a:p>
            <a:pPr algn="l">
              <a:spcBef>
                <a:spcPts val="100"/>
              </a:spcBef>
              <a:spcAft>
                <a:spcPts val="200"/>
              </a:spcAft>
            </a:pPr>
            <a:r>
              <a:rPr sz="2600" b="1" i="0">
                <a:solidFill>
                  <a:srgbClr val="1A222C"/>
                </a:solidFill>
                <a:latin typeface="Segoe UI"/>
              </a:rPr>
              <a:t>What Are We Actually Asking a Computer to Do?</a:t>
            </a:r>
          </a:p>
          <a:p>
            <a:pPr algn="l">
              <a:spcBef>
                <a:spcPts val="300"/>
              </a:spcBef>
              <a:spcAft>
                <a:spcPts val="200"/>
              </a:spcAft>
            </a:pPr>
            <a:r>
              <a:rPr sz="1250" b="0" i="0">
                <a:solidFill>
                  <a:srgbClr val="5B6678"/>
                </a:solidFill>
                <a:latin typeface="Segoe UI"/>
              </a:rPr>
              <a:t>Not "is there a car in this picture" — a much harder question about context.</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5486400" cy="23317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73936"/>
            <a:ext cx="4937760" cy="196596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THE EVERYDAY VERSION</a:t>
            </a:r>
          </a:p>
          <a:p>
            <a:pPr algn="l">
              <a:spcBef>
                <a:spcPts val="600"/>
              </a:spcBef>
              <a:spcAft>
                <a:spcPts val="200"/>
              </a:spcAft>
            </a:pPr>
            <a:r>
              <a:rPr sz="1400" b="1" i="0">
                <a:solidFill>
                  <a:srgbClr val="1A222C"/>
                </a:solidFill>
                <a:latin typeface="Segoe UI"/>
              </a:rPr>
              <a:t>A parked car is normal. A car stopped in the middle of a moving highway lane is not.</a:t>
            </a:r>
          </a:p>
          <a:p>
            <a:pPr algn="l">
              <a:spcBef>
                <a:spcPts val="800"/>
              </a:spcBef>
              <a:spcAft>
                <a:spcPts val="200"/>
              </a:spcAft>
            </a:pPr>
            <a:r>
              <a:rPr sz="1200" b="0" i="0">
                <a:solidFill>
                  <a:srgbClr val="5B6678"/>
                </a:solidFill>
                <a:latin typeface="Segoe UI"/>
              </a:rPr>
              <a:t>The two situations can look almost identical in a single photo — a car, sitting still. What makes one an emergency and the other unremarkable is context: where it is, and for how long it has been there. A computer has to learn to ask those questions, not just "do I see a car?"</a:t>
            </a:r>
          </a:p>
        </p:txBody>
      </p:sp>
      <p:sp>
        <p:nvSpPr>
          <p:cNvPr id="7" name="Rectangle 6"/>
          <p:cNvSpPr/>
          <p:nvPr/>
        </p:nvSpPr>
        <p:spPr>
          <a:xfrm>
            <a:off x="6245352" y="1572768"/>
            <a:ext cx="5394960" cy="23317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1773936"/>
            <a:ext cx="4846320" cy="196596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THE HARDWARE VERSION</a:t>
            </a:r>
          </a:p>
          <a:p>
            <a:pPr algn="l">
              <a:spcBef>
                <a:spcPts val="600"/>
              </a:spcBef>
              <a:spcAft>
                <a:spcPts val="200"/>
              </a:spcAft>
            </a:pPr>
            <a:r>
              <a:rPr sz="1400" b="1" i="0">
                <a:solidFill>
                  <a:srgbClr val="1A222C"/>
                </a:solidFill>
                <a:latin typeface="Segoe UI"/>
              </a:rPr>
              <a:t>We had one ordinary gaming laptop — no data-centre GPU.</a:t>
            </a:r>
          </a:p>
          <a:p>
            <a:pPr algn="l">
              <a:spcBef>
                <a:spcPts val="800"/>
              </a:spcBef>
              <a:spcAft>
                <a:spcPts val="200"/>
              </a:spcAft>
            </a:pPr>
            <a:r>
              <a:rPr sz="1200" b="0" i="0">
                <a:solidFill>
                  <a:srgbClr val="5B6678"/>
                </a:solidFill>
                <a:latin typeface="Segoe UI"/>
              </a:rPr>
              <a:t>A GTX 1650 with 4 GB of video memory — think of it as a small kitchen counter to work on, not an industrial one. Powerful AI vision models don't fit on a counter that size, and running one on every single frame of video would be far too slow to matter in real time.</a:t>
            </a:r>
          </a:p>
        </p:txBody>
      </p:sp>
      <p:sp>
        <p:nvSpPr>
          <p:cNvPr id="9" name="Rectangle 8"/>
          <p:cNvSpPr/>
          <p:nvPr/>
        </p:nvSpPr>
        <p:spPr>
          <a:xfrm>
            <a:off x="548640" y="4114800"/>
            <a:ext cx="11091672" cy="2057400"/>
          </a:xfrm>
          <a:prstGeom prst="rect">
            <a:avLst/>
          </a:prstGeom>
          <a:solidFill>
            <a:srgbClr val="EEF4F8"/>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114800"/>
            <a:ext cx="54864" cy="20574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315968"/>
            <a:ext cx="10424160" cy="169164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SO THE REAL TASK WAS TWO PROBLEMS AT ONCE</a:t>
            </a:r>
          </a:p>
        </p:txBody>
      </p:sp>
      <p:sp>
        <p:nvSpPr>
          <p:cNvPr id="12" name="TextBox 11"/>
          <p:cNvSpPr txBox="1"/>
          <p:nvPr/>
        </p:nvSpPr>
        <p:spPr>
          <a:xfrm>
            <a:off x="868680" y="4681728"/>
            <a:ext cx="10058400" cy="548640"/>
          </a:xfrm>
          <a:prstGeom prst="rect">
            <a:avLst/>
          </a:prstGeom>
          <a:noFill/>
        </p:spPr>
        <p:txBody>
          <a:bodyPr wrap="square" lIns="0" rIns="0" tIns="0" bIns="0">
            <a:spAutoFit/>
          </a:bodyPr>
          <a:lstStyle/>
          <a:p>
            <a:r>
              <a:rPr sz="1300" b="1">
                <a:solidFill>
                  <a:srgbClr val="1A222C"/>
                </a:solidFill>
                <a:latin typeface="Segoe UI"/>
              </a:rPr>
              <a:t>1.  Understanding context — </a:t>
            </a:r>
            <a:r>
              <a:rPr sz="1300">
                <a:solidFill>
                  <a:srgbClr val="5B6678"/>
                </a:solidFill>
                <a:latin typeface="Segoe UI"/>
              </a:rPr>
              <a:t>teach the system what "normal" looks like for a given place, so it can spot what breaks the pattern — not just detect objects.</a:t>
            </a:r>
          </a:p>
        </p:txBody>
      </p:sp>
      <p:sp>
        <p:nvSpPr>
          <p:cNvPr id="13" name="TextBox 12"/>
          <p:cNvSpPr txBox="1"/>
          <p:nvPr/>
        </p:nvSpPr>
        <p:spPr>
          <a:xfrm>
            <a:off x="868680" y="5285232"/>
            <a:ext cx="10058400" cy="548640"/>
          </a:xfrm>
          <a:prstGeom prst="rect">
            <a:avLst/>
          </a:prstGeom>
          <a:noFill/>
        </p:spPr>
        <p:txBody>
          <a:bodyPr wrap="square" lIns="0" rIns="0" tIns="0" bIns="0">
            <a:spAutoFit/>
          </a:bodyPr>
          <a:lstStyle/>
          <a:p>
            <a:r>
              <a:rPr sz="1300" b="1">
                <a:solidFill>
                  <a:srgbClr val="1A222C"/>
                </a:solidFill>
                <a:latin typeface="Segoe UI"/>
              </a:rPr>
              <a:t>2.  Working within a budget — </a:t>
            </a:r>
            <a:r>
              <a:rPr sz="1300">
                <a:solidFill>
                  <a:srgbClr val="5B6678"/>
                </a:solidFill>
                <a:latin typeface="Segoe UI"/>
              </a:rPr>
              <a:t>do this on modest hardware, fast enough to matter, without needing a warehouse full of expensive computers.</a:t>
            </a:r>
          </a:p>
        </p:txBody>
      </p:sp>
      <p:sp>
        <p:nvSpPr>
          <p:cNvPr id="14" name="TextBox 13"/>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5" name="TextBox 14"/>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WHY THIS IS GENUINELY HARD</a:t>
            </a:r>
          </a:p>
          <a:p>
            <a:pPr algn="l">
              <a:spcBef>
                <a:spcPts val="100"/>
              </a:spcBef>
              <a:spcAft>
                <a:spcPts val="200"/>
              </a:spcAft>
            </a:pPr>
            <a:r>
              <a:rPr sz="2600" b="1" i="0">
                <a:solidFill>
                  <a:srgbClr val="1A222C"/>
                </a:solidFill>
                <a:latin typeface="Segoe UI"/>
              </a:rPr>
              <a:t>Three Reasons This Isn't Just "Run an App Store AI Model"</a:t>
            </a:r>
          </a:p>
          <a:p>
            <a:pPr algn="l">
              <a:spcBef>
                <a:spcPts val="300"/>
              </a:spcBef>
              <a:spcAft>
                <a:spcPts val="200"/>
              </a:spcAft>
            </a:pPr>
            <a:r>
              <a:rPr sz="1250" b="0" i="0">
                <a:solidFill>
                  <a:srgbClr val="5B6678"/>
                </a:solidFill>
                <a:latin typeface="Segoe UI"/>
              </a:rPr>
              <a:t>Each one ruled out the obvious, simplest answer.</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356616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3566160"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92224"/>
            <a:ext cx="3127248" cy="2743200"/>
          </a:xfrm>
          <a:prstGeom prst="rect">
            <a:avLst/>
          </a:prstGeom>
          <a:noFill/>
        </p:spPr>
        <p:txBody>
          <a:bodyPr wrap="square" lIns="0" rIns="0" tIns="0" bIns="0">
            <a:spAutoFit/>
          </a:bodyPr>
          <a:lstStyle/>
          <a:p>
            <a:pPr algn="l">
              <a:spcBef>
                <a:spcPts val="0"/>
              </a:spcBef>
              <a:spcAft>
                <a:spcPts val="200"/>
              </a:spcAft>
            </a:pPr>
            <a:r>
              <a:rPr sz="1450" b="1" i="0">
                <a:solidFill>
                  <a:srgbClr val="1A222C"/>
                </a:solidFill>
                <a:latin typeface="Segoe UI"/>
              </a:rPr>
              <a:t>"Normal" depends on WHERE you are</a:t>
            </a:r>
          </a:p>
          <a:p>
            <a:pPr algn="l">
              <a:spcBef>
                <a:spcPts val="1000"/>
              </a:spcBef>
              <a:spcAft>
                <a:spcPts val="200"/>
              </a:spcAft>
            </a:pPr>
            <a:r>
              <a:rPr sz="1200" b="0" i="0">
                <a:solidFill>
                  <a:srgbClr val="5B6678"/>
                </a:solidFill>
                <a:latin typeface="Segoe UI"/>
              </a:rPr>
              <a:t>A crowd of people standing still is completely normal outside a stadium gate, and a clear sign of trouble in the middle of a road. The same picture means two different things depending on the location — so a model can't just learn "what does a problem look like" in general.</a:t>
            </a:r>
          </a:p>
        </p:txBody>
      </p:sp>
      <p:sp>
        <p:nvSpPr>
          <p:cNvPr id="8" name="Rectangle 7"/>
          <p:cNvSpPr/>
          <p:nvPr/>
        </p:nvSpPr>
        <p:spPr>
          <a:xfrm>
            <a:off x="4297680" y="1572768"/>
            <a:ext cx="356616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0" y="1572768"/>
            <a:ext cx="3566160"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7136" y="1792224"/>
            <a:ext cx="3127248" cy="2743200"/>
          </a:xfrm>
          <a:prstGeom prst="rect">
            <a:avLst/>
          </a:prstGeom>
          <a:noFill/>
        </p:spPr>
        <p:txBody>
          <a:bodyPr wrap="square" lIns="0" rIns="0" tIns="0" bIns="0">
            <a:spAutoFit/>
          </a:bodyPr>
          <a:lstStyle/>
          <a:p>
            <a:pPr algn="l">
              <a:spcBef>
                <a:spcPts val="0"/>
              </a:spcBef>
              <a:spcAft>
                <a:spcPts val="200"/>
              </a:spcAft>
            </a:pPr>
            <a:r>
              <a:rPr sz="1450" b="1" i="0">
                <a:solidFill>
                  <a:srgbClr val="1A222C"/>
                </a:solidFill>
                <a:latin typeface="Segoe UI"/>
              </a:rPr>
              <a:t>Most problems are about TIME, not appearance</a:t>
            </a:r>
          </a:p>
          <a:p>
            <a:pPr algn="l">
              <a:spcBef>
                <a:spcPts val="1000"/>
              </a:spcBef>
              <a:spcAft>
                <a:spcPts val="200"/>
              </a:spcAft>
            </a:pPr>
            <a:r>
              <a:rPr sz="1200" b="0" i="0">
                <a:solidFill>
                  <a:srgbClr val="5B6678"/>
                </a:solidFill>
                <a:latin typeface="Segoe UI"/>
              </a:rPr>
              <a:t>A car in a lane is not the story — a car that HASN'T MOVED for two minutes is. That fact doesn't exist in any single photo; it only exists when you compare many moments to each other.</a:t>
            </a:r>
          </a:p>
        </p:txBody>
      </p:sp>
      <p:sp>
        <p:nvSpPr>
          <p:cNvPr id="11" name="Rectangle 10"/>
          <p:cNvSpPr/>
          <p:nvPr/>
        </p:nvSpPr>
        <p:spPr>
          <a:xfrm>
            <a:off x="8046720" y="1572768"/>
            <a:ext cx="356616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572768"/>
            <a:ext cx="3566160"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6176" y="1792224"/>
            <a:ext cx="3127248" cy="2743200"/>
          </a:xfrm>
          <a:prstGeom prst="rect">
            <a:avLst/>
          </a:prstGeom>
          <a:noFill/>
        </p:spPr>
        <p:txBody>
          <a:bodyPr wrap="square" lIns="0" rIns="0" tIns="0" bIns="0">
            <a:spAutoFit/>
          </a:bodyPr>
          <a:lstStyle/>
          <a:p>
            <a:pPr algn="l">
              <a:spcBef>
                <a:spcPts val="0"/>
              </a:spcBef>
              <a:spcAft>
                <a:spcPts val="200"/>
              </a:spcAft>
            </a:pPr>
            <a:r>
              <a:rPr sz="1450" b="1" i="0">
                <a:solidFill>
                  <a:srgbClr val="1A222C"/>
                </a:solidFill>
                <a:latin typeface="Segoe UI"/>
              </a:rPr>
              <a:t>Powerful AI models are too slow and too heavy to run constantly</a:t>
            </a:r>
          </a:p>
          <a:p>
            <a:pPr algn="l">
              <a:spcBef>
                <a:spcPts val="1000"/>
              </a:spcBef>
              <a:spcAft>
                <a:spcPts val="200"/>
              </a:spcAft>
            </a:pPr>
            <a:r>
              <a:rPr sz="1200" b="0" i="0">
                <a:solidFill>
                  <a:srgbClr val="5B6678"/>
                </a:solidFill>
                <a:latin typeface="Segoe UI"/>
              </a:rPr>
              <a:t>The best available vision-language models (models that can look at an image and describe it in a sentence) take tens of seconds per look and need more memory than our laptop's graphics card has. Running one on every frame of every video was never on the table.</a:t>
            </a:r>
          </a:p>
        </p:txBody>
      </p:sp>
      <p:sp>
        <p:nvSpPr>
          <p:cNvPr id="14" name="Rectangle 13"/>
          <p:cNvSpPr/>
          <p:nvPr/>
        </p:nvSpPr>
        <p:spPr>
          <a:xfrm>
            <a:off x="548640" y="4892040"/>
            <a:ext cx="11091672" cy="1371600"/>
          </a:xfrm>
          <a:prstGeom prst="rect">
            <a:avLst/>
          </a:prstGeom>
          <a:solidFill>
            <a:srgbClr val="EEF4F8"/>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074920"/>
            <a:ext cx="10424160" cy="105156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PUT TOGETHER</a:t>
            </a:r>
          </a:p>
          <a:p>
            <a:pPr algn="l">
              <a:spcBef>
                <a:spcPts val="600"/>
              </a:spcBef>
              <a:spcAft>
                <a:spcPts val="200"/>
              </a:spcAft>
            </a:pPr>
            <a:r>
              <a:rPr sz="1300" b="0" i="0">
                <a:solidFill>
                  <a:srgbClr val="1A222C"/>
                </a:solidFill>
                <a:latin typeface="Segoe UI"/>
              </a:rPr>
              <a:t>We needed a system that understands context, reasons about time, and stays cheap enough to run constantly — three requirements that pull against each other, which is exactly why a single AI model can't do this job alone.</a:t>
            </a:r>
          </a:p>
        </p:txBody>
      </p:sp>
      <p:sp>
        <p:nvSpPr>
          <p:cNvPr id="16" name="TextBox 15"/>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7" name="TextBox 16"/>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THE ARCHITECTURE</a:t>
            </a:r>
          </a:p>
          <a:p>
            <a:pPr algn="l">
              <a:spcBef>
                <a:spcPts val="100"/>
              </a:spcBef>
              <a:spcAft>
                <a:spcPts val="200"/>
              </a:spcAft>
            </a:pPr>
            <a:r>
              <a:rPr sz="2600" b="1" i="0">
                <a:solidFill>
                  <a:srgbClr val="1A222C"/>
                </a:solidFill>
                <a:latin typeface="Segoe UI"/>
              </a:rPr>
              <a:t>Four Checkpoints, Each Cheaper Than an Expert Opinion</a:t>
            </a:r>
          </a:p>
          <a:p>
            <a:pPr algn="l">
              <a:spcBef>
                <a:spcPts val="300"/>
              </a:spcBef>
              <a:spcAft>
                <a:spcPts val="200"/>
              </a:spcAft>
            </a:pPr>
            <a:r>
              <a:rPr sz="1250" b="0" i="0">
                <a:solidFill>
                  <a:srgbClr val="5B6678"/>
                </a:solidFill>
                <a:latin typeface="Segoe UI"/>
              </a:rPr>
              <a:t>Think of it as a hospital triage line — a nurse checks everyone first; the doctor only sees who needs one.</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2670048" cy="32461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2670048"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73936"/>
            <a:ext cx="2304288" cy="2834640"/>
          </a:xfrm>
          <a:prstGeom prst="rect">
            <a:avLst/>
          </a:prstGeom>
          <a:noFill/>
        </p:spPr>
        <p:txBody>
          <a:bodyPr wrap="square" lIns="0" rIns="0" tIns="0" bIns="0">
            <a:spAutoFit/>
          </a:bodyPr>
          <a:lstStyle/>
          <a:p>
            <a:pPr algn="l">
              <a:spcBef>
                <a:spcPts val="0"/>
              </a:spcBef>
              <a:spcAft>
                <a:spcPts val="200"/>
              </a:spcAft>
            </a:pPr>
            <a:r>
              <a:rPr sz="950" b="1" i="0">
                <a:solidFill>
                  <a:srgbClr val="2E86AB"/>
                </a:solidFill>
                <a:latin typeface="Segoe UI"/>
              </a:rPr>
              <a:t>CHECKPOINT 1 · every single frame</a:t>
            </a:r>
          </a:p>
          <a:p>
            <a:pPr algn="l">
              <a:spcBef>
                <a:spcPts val="800"/>
              </a:spcBef>
              <a:spcAft>
                <a:spcPts val="200"/>
              </a:spcAft>
            </a:pPr>
            <a:r>
              <a:rPr sz="1300" b="1" i="1">
                <a:solidFill>
                  <a:srgbClr val="1A222C"/>
                </a:solidFill>
                <a:latin typeface="Segoe UI"/>
              </a:rPr>
              <a:t>"What's in the picture, and where?"</a:t>
            </a:r>
          </a:p>
          <a:p>
            <a:pPr algn="l">
              <a:spcBef>
                <a:spcPts val="1000"/>
              </a:spcBef>
              <a:spcAft>
                <a:spcPts val="200"/>
              </a:spcAft>
            </a:pPr>
            <a:r>
              <a:rPr sz="1080" b="0" i="0">
                <a:solidFill>
                  <a:srgbClr val="5B6678"/>
                </a:solidFill>
                <a:latin typeface="Segoe UI"/>
              </a:rPr>
              <a:t>A fast, lightweight detector (a smaller AI model, tuned for speed) draws a box around every vehicle and person and gives each one an ID number it keeps across frames — so we know it's the SAME car two seconds later, not a new one.</a:t>
            </a:r>
          </a:p>
        </p:txBody>
      </p:sp>
      <p:sp>
        <p:nvSpPr>
          <p:cNvPr id="8" name="TextBox 7"/>
          <p:cNvSpPr txBox="1"/>
          <p:nvPr/>
        </p:nvSpPr>
        <p:spPr>
          <a:xfrm>
            <a:off x="3227832" y="3035808"/>
            <a:ext cx="164592" cy="274320"/>
          </a:xfrm>
          <a:prstGeom prst="rect">
            <a:avLst/>
          </a:prstGeom>
          <a:noFill/>
        </p:spPr>
        <p:txBody>
          <a:bodyPr wrap="square" lIns="0" rIns="0" tIns="0" bIns="0">
            <a:spAutoFit/>
          </a:bodyPr>
          <a:lstStyle/>
          <a:p>
            <a:pPr algn="ctr">
              <a:spcBef>
                <a:spcPts val="0"/>
              </a:spcBef>
              <a:spcAft>
                <a:spcPts val="200"/>
              </a:spcAft>
            </a:pPr>
            <a:r>
              <a:rPr sz="1800" b="1" i="0">
                <a:solidFill>
                  <a:srgbClr val="D8DEE6"/>
                </a:solidFill>
                <a:latin typeface="Segoe UI"/>
              </a:rPr>
              <a:t>›</a:t>
            </a:r>
          </a:p>
        </p:txBody>
      </p:sp>
      <p:sp>
        <p:nvSpPr>
          <p:cNvPr id="9" name="Rectangle 8"/>
          <p:cNvSpPr/>
          <p:nvPr/>
        </p:nvSpPr>
        <p:spPr>
          <a:xfrm>
            <a:off x="3383280" y="1572768"/>
            <a:ext cx="2670048" cy="32461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83280" y="1572768"/>
            <a:ext cx="2670048"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773936"/>
            <a:ext cx="2304288" cy="2834640"/>
          </a:xfrm>
          <a:prstGeom prst="rect">
            <a:avLst/>
          </a:prstGeom>
          <a:noFill/>
        </p:spPr>
        <p:txBody>
          <a:bodyPr wrap="square" lIns="0" rIns="0" tIns="0" bIns="0">
            <a:spAutoFit/>
          </a:bodyPr>
          <a:lstStyle/>
          <a:p>
            <a:pPr algn="l">
              <a:spcBef>
                <a:spcPts val="0"/>
              </a:spcBef>
              <a:spcAft>
                <a:spcPts val="200"/>
              </a:spcAft>
            </a:pPr>
            <a:r>
              <a:rPr sz="950" b="1" i="0">
                <a:solidFill>
                  <a:srgbClr val="2E86AB"/>
                </a:solidFill>
                <a:latin typeface="Segoe UI"/>
              </a:rPr>
              <a:t>CHECKPOINT 2 · every frame, pure arithmetic</a:t>
            </a:r>
          </a:p>
          <a:p>
            <a:pPr algn="l">
              <a:spcBef>
                <a:spcPts val="800"/>
              </a:spcBef>
              <a:spcAft>
                <a:spcPts val="200"/>
              </a:spcAft>
            </a:pPr>
            <a:r>
              <a:rPr sz="1300" b="1" i="1">
                <a:solidFill>
                  <a:srgbClr val="1A222C"/>
                </a:solidFill>
                <a:latin typeface="Segoe UI"/>
              </a:rPr>
              <a:t>"Has anything been sitting still too long?"</a:t>
            </a:r>
          </a:p>
          <a:p>
            <a:pPr algn="l">
              <a:spcBef>
                <a:spcPts val="1000"/>
              </a:spcBef>
              <a:spcAft>
                <a:spcPts val="200"/>
              </a:spcAft>
            </a:pPr>
            <a:r>
              <a:rPr sz="1080" b="0" i="0">
                <a:solidFill>
                  <a:srgbClr val="5B6678"/>
                </a:solidFill>
                <a:latin typeface="Segoe UI"/>
              </a:rPr>
              <a:t>No AI model runs here at all — just counting. How many seconds has this car ID stayed in one place? Is it in a driving lane or a parking spot? That's a stopwatch and a map, not a neural network.</a:t>
            </a:r>
          </a:p>
        </p:txBody>
      </p:sp>
      <p:sp>
        <p:nvSpPr>
          <p:cNvPr id="12" name="TextBox 11"/>
          <p:cNvSpPr txBox="1"/>
          <p:nvPr/>
        </p:nvSpPr>
        <p:spPr>
          <a:xfrm>
            <a:off x="6062472" y="3035808"/>
            <a:ext cx="164592" cy="274320"/>
          </a:xfrm>
          <a:prstGeom prst="rect">
            <a:avLst/>
          </a:prstGeom>
          <a:noFill/>
        </p:spPr>
        <p:txBody>
          <a:bodyPr wrap="square" lIns="0" rIns="0" tIns="0" bIns="0">
            <a:spAutoFit/>
          </a:bodyPr>
          <a:lstStyle/>
          <a:p>
            <a:pPr algn="ctr">
              <a:spcBef>
                <a:spcPts val="0"/>
              </a:spcBef>
              <a:spcAft>
                <a:spcPts val="200"/>
              </a:spcAft>
            </a:pPr>
            <a:r>
              <a:rPr sz="1800" b="1" i="0">
                <a:solidFill>
                  <a:srgbClr val="D8DEE6"/>
                </a:solidFill>
                <a:latin typeface="Segoe UI"/>
              </a:rPr>
              <a:t>›</a:t>
            </a:r>
          </a:p>
        </p:txBody>
      </p:sp>
      <p:sp>
        <p:nvSpPr>
          <p:cNvPr id="13" name="Rectangle 12"/>
          <p:cNvSpPr/>
          <p:nvPr/>
        </p:nvSpPr>
        <p:spPr>
          <a:xfrm>
            <a:off x="6217920" y="1572768"/>
            <a:ext cx="2670048" cy="32461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572768"/>
            <a:ext cx="2670048"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773936"/>
            <a:ext cx="2304288" cy="2834640"/>
          </a:xfrm>
          <a:prstGeom prst="rect">
            <a:avLst/>
          </a:prstGeom>
          <a:noFill/>
        </p:spPr>
        <p:txBody>
          <a:bodyPr wrap="square" lIns="0" rIns="0" tIns="0" bIns="0">
            <a:spAutoFit/>
          </a:bodyPr>
          <a:lstStyle/>
          <a:p>
            <a:pPr algn="l">
              <a:spcBef>
                <a:spcPts val="0"/>
              </a:spcBef>
              <a:spcAft>
                <a:spcPts val="200"/>
              </a:spcAft>
            </a:pPr>
            <a:r>
              <a:rPr sz="950" b="1" i="0">
                <a:solidFill>
                  <a:srgbClr val="2E86AB"/>
                </a:solidFill>
                <a:latin typeface="Segoe UI"/>
              </a:rPr>
              <a:t>CHECKPOINT 3 · a handful of sampled frames</a:t>
            </a:r>
          </a:p>
          <a:p>
            <a:pPr algn="l">
              <a:spcBef>
                <a:spcPts val="800"/>
              </a:spcBef>
              <a:spcAft>
                <a:spcPts val="200"/>
              </a:spcAft>
            </a:pPr>
            <a:r>
              <a:rPr sz="1300" b="1" i="1">
                <a:solidFill>
                  <a:srgbClr val="1A222C"/>
                </a:solidFill>
                <a:latin typeface="Segoe UI"/>
              </a:rPr>
              <a:t>"Does this look like fire, smoke, or a flood?"</a:t>
            </a:r>
          </a:p>
          <a:p>
            <a:pPr algn="l">
              <a:spcBef>
                <a:spcPts val="1000"/>
              </a:spcBef>
              <a:spcAft>
                <a:spcPts val="200"/>
              </a:spcAft>
            </a:pPr>
            <a:r>
              <a:rPr sz="1080" b="0" i="0">
                <a:solidFill>
                  <a:srgbClr val="5B6678"/>
                </a:solidFill>
                <a:latin typeface="Segoe UI"/>
              </a:rPr>
              <a:t>A small image-recognition model — trained specifically on these categories — glances at a few frames. It only handles things a SINGLE photo can show; it never has to judge motion or duration.</a:t>
            </a:r>
          </a:p>
        </p:txBody>
      </p:sp>
      <p:sp>
        <p:nvSpPr>
          <p:cNvPr id="16" name="TextBox 15"/>
          <p:cNvSpPr txBox="1"/>
          <p:nvPr/>
        </p:nvSpPr>
        <p:spPr>
          <a:xfrm>
            <a:off x="8897112" y="3035808"/>
            <a:ext cx="164592" cy="274320"/>
          </a:xfrm>
          <a:prstGeom prst="rect">
            <a:avLst/>
          </a:prstGeom>
          <a:noFill/>
        </p:spPr>
        <p:txBody>
          <a:bodyPr wrap="square" lIns="0" rIns="0" tIns="0" bIns="0">
            <a:spAutoFit/>
          </a:bodyPr>
          <a:lstStyle/>
          <a:p>
            <a:pPr algn="ctr">
              <a:spcBef>
                <a:spcPts val="0"/>
              </a:spcBef>
              <a:spcAft>
                <a:spcPts val="200"/>
              </a:spcAft>
            </a:pPr>
            <a:r>
              <a:rPr sz="1800" b="1" i="0">
                <a:solidFill>
                  <a:srgbClr val="D8DEE6"/>
                </a:solidFill>
                <a:latin typeface="Segoe UI"/>
              </a:rPr>
              <a:t>›</a:t>
            </a:r>
          </a:p>
        </p:txBody>
      </p:sp>
      <p:sp>
        <p:nvSpPr>
          <p:cNvPr id="17" name="Rectangle 16"/>
          <p:cNvSpPr/>
          <p:nvPr/>
        </p:nvSpPr>
        <p:spPr>
          <a:xfrm>
            <a:off x="9052560" y="1572768"/>
            <a:ext cx="2670048" cy="32461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52560" y="1572768"/>
            <a:ext cx="2670048" cy="54864"/>
          </a:xfrm>
          <a:prstGeom prst="rect">
            <a:avLst/>
          </a:prstGeom>
          <a:solidFill>
            <a:srgbClr val="E87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0" y="1773936"/>
            <a:ext cx="2304288" cy="2834640"/>
          </a:xfrm>
          <a:prstGeom prst="rect">
            <a:avLst/>
          </a:prstGeom>
          <a:noFill/>
        </p:spPr>
        <p:txBody>
          <a:bodyPr wrap="square" lIns="0" rIns="0" tIns="0" bIns="0">
            <a:spAutoFit/>
          </a:bodyPr>
          <a:lstStyle/>
          <a:p>
            <a:pPr algn="l">
              <a:spcBef>
                <a:spcPts val="0"/>
              </a:spcBef>
              <a:spcAft>
                <a:spcPts val="200"/>
              </a:spcAft>
            </a:pPr>
            <a:r>
              <a:rPr sz="950" b="1" i="0">
                <a:solidFill>
                  <a:srgbClr val="E87122"/>
                </a:solidFill>
                <a:latin typeface="Segoe UI"/>
              </a:rPr>
              <a:t>CHECKPOINT 4 · rare, expensive calls only</a:t>
            </a:r>
          </a:p>
          <a:p>
            <a:pPr algn="l">
              <a:spcBef>
                <a:spcPts val="800"/>
              </a:spcBef>
              <a:spcAft>
                <a:spcPts val="200"/>
              </a:spcAft>
            </a:pPr>
            <a:r>
              <a:rPr sz="1300" b="1" i="1">
                <a:solidFill>
                  <a:srgbClr val="1A222C"/>
                </a:solidFill>
                <a:latin typeface="Segoe UI"/>
              </a:rPr>
              <a:t>"An expert, please describe what's actually happening."</a:t>
            </a:r>
          </a:p>
          <a:p>
            <a:pPr algn="l">
              <a:spcBef>
                <a:spcPts val="1000"/>
              </a:spcBef>
              <a:spcAft>
                <a:spcPts val="200"/>
              </a:spcAft>
            </a:pPr>
            <a:r>
              <a:rPr sz="1080" b="0" i="0">
                <a:solidFill>
                  <a:srgbClr val="5B6678"/>
                </a:solidFill>
                <a:latin typeface="Segoe UI"/>
              </a:rPr>
              <a:t>A vision-language model (an AI that can look at an image and write a sentence about it) is called on well under 2% of frames — only the ones the earlier, cheap checkpoints flagged as suspicious.</a:t>
            </a:r>
          </a:p>
        </p:txBody>
      </p:sp>
      <p:sp>
        <p:nvSpPr>
          <p:cNvPr id="20" name="Rectangle 19"/>
          <p:cNvSpPr/>
          <p:nvPr/>
        </p:nvSpPr>
        <p:spPr>
          <a:xfrm>
            <a:off x="548640" y="5074920"/>
            <a:ext cx="11091672" cy="1188720"/>
          </a:xfrm>
          <a:prstGeom prst="rect">
            <a:avLst/>
          </a:prstGeom>
          <a:solidFill>
            <a:srgbClr val="FDF3E9"/>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239512"/>
            <a:ext cx="10424160" cy="914400"/>
          </a:xfrm>
          <a:prstGeom prst="rect">
            <a:avLst/>
          </a:prstGeom>
          <a:noFill/>
        </p:spPr>
        <p:txBody>
          <a:bodyPr wrap="square" lIns="0" rIns="0" tIns="0" bIns="0">
            <a:spAutoFit/>
          </a:bodyPr>
          <a:lstStyle/>
          <a:p>
            <a:pPr algn="l">
              <a:spcBef>
                <a:spcPts val="0"/>
              </a:spcBef>
              <a:spcAft>
                <a:spcPts val="200"/>
              </a:spcAft>
            </a:pPr>
            <a:r>
              <a:rPr sz="1050" b="1" i="0">
                <a:solidFill>
                  <a:srgbClr val="E87122"/>
                </a:solidFill>
                <a:latin typeface="Segoe UI"/>
              </a:rPr>
              <a:t>WHY IN THIS ORDER</a:t>
            </a:r>
          </a:p>
          <a:p>
            <a:pPr algn="l">
              <a:spcBef>
                <a:spcPts val="400"/>
              </a:spcBef>
              <a:spcAft>
                <a:spcPts val="200"/>
              </a:spcAft>
            </a:pPr>
            <a:r>
              <a:rPr sz="1250" b="0" i="0">
                <a:solidFill>
                  <a:srgbClr val="1A222C"/>
                </a:solidFill>
                <a:latin typeface="Segoe UI"/>
              </a:rPr>
              <a:t>Each checkpoint only has to handle what the ones before it couldn't rule out. By the time the expensive expert (checkpoint 4) is asked anything, three cheap filters have already thrown away almost everything unremarkable — which is the only reason this runs fast enough to matter at all.</a:t>
            </a:r>
          </a:p>
        </p:txBody>
      </p:sp>
      <p:sp>
        <p:nvSpPr>
          <p:cNvPr id="22" name="TextBox 21"/>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23" name="TextBox 22"/>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CHECKPOINT 1, IN DEPTH</a:t>
            </a:r>
          </a:p>
          <a:p>
            <a:pPr algn="l">
              <a:spcBef>
                <a:spcPts val="100"/>
              </a:spcBef>
              <a:spcAft>
                <a:spcPts val="200"/>
              </a:spcAft>
            </a:pPr>
            <a:r>
              <a:rPr sz="2600" b="1" i="0">
                <a:solidFill>
                  <a:srgbClr val="1A222C"/>
                </a:solidFill>
                <a:latin typeface="Segoe UI"/>
              </a:rPr>
              <a:t>Finding Things and Keeping Track of Them</a:t>
            </a:r>
          </a:p>
          <a:p>
            <a:pPr algn="l">
              <a:spcBef>
                <a:spcPts val="300"/>
              </a:spcBef>
              <a:spcAft>
                <a:spcPts val="200"/>
              </a:spcAft>
            </a:pPr>
            <a:r>
              <a:rPr sz="1250" b="0" i="0">
                <a:solidFill>
                  <a:srgbClr val="5B6678"/>
                </a:solidFill>
                <a:latin typeface="Segoe UI"/>
              </a:rPr>
              <a:t>Two separate jobs bundled into one step: spotting objects, and remembering which object is which.</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539496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73936"/>
            <a:ext cx="4846320" cy="274320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SPOTTING ("DETECTION")</a:t>
            </a:r>
          </a:p>
          <a:p>
            <a:pPr algn="l">
              <a:spcBef>
                <a:spcPts val="600"/>
              </a:spcBef>
              <a:spcAft>
                <a:spcPts val="200"/>
              </a:spcAft>
            </a:pPr>
            <a:r>
              <a:rPr sz="1300" b="1" i="0">
                <a:solidFill>
                  <a:srgbClr val="1A222C"/>
                </a:solidFill>
                <a:latin typeface="Segoe UI"/>
              </a:rPr>
              <a:t>A small, fast AI model draws a box around every car, motorbike and person it can find, in every single frame.</a:t>
            </a:r>
          </a:p>
          <a:p>
            <a:pPr algn="l">
              <a:spcBef>
                <a:spcPts val="800"/>
              </a:spcBef>
              <a:spcAft>
                <a:spcPts val="200"/>
              </a:spcAft>
            </a:pPr>
            <a:r>
              <a:rPr sz="1200" b="0" i="0">
                <a:solidFill>
                  <a:srgbClr val="5B6678"/>
                </a:solidFill>
                <a:latin typeface="Segoe UI"/>
              </a:rPr>
              <a:t>We deliberately used a SMALL model here, not the biggest one available. It has to run dozens of times per second, so speed matters more than squeezing out the last bit of accuracy — this is the "nurse" in the triage line, not the specialist.</a:t>
            </a:r>
          </a:p>
          <a:p>
            <a:pPr algn="l">
              <a:spcBef>
                <a:spcPts val="800"/>
              </a:spcBef>
              <a:spcAft>
                <a:spcPts val="200"/>
              </a:spcAft>
            </a:pPr>
            <a:r>
              <a:rPr sz="1200" b="0" i="0">
                <a:solidFill>
                  <a:srgbClr val="5B6678"/>
                </a:solidFill>
                <a:latin typeface="Segoe UI"/>
              </a:rPr>
              <a:t>We also retrained it on footage shot from directly overhead, because the version trained on ordinary street-level photos missed most objects seen from a drone's altitude — everything looks small and unfamiliar from straight above.</a:t>
            </a:r>
          </a:p>
        </p:txBody>
      </p:sp>
      <p:sp>
        <p:nvSpPr>
          <p:cNvPr id="7" name="Rectangle 6"/>
          <p:cNvSpPr/>
          <p:nvPr/>
        </p:nvSpPr>
        <p:spPr>
          <a:xfrm>
            <a:off x="6062472" y="1572768"/>
            <a:ext cx="557784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36792" y="1773936"/>
            <a:ext cx="5029200" cy="274320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REMEMBERING ("TRACKING")</a:t>
            </a:r>
          </a:p>
          <a:p>
            <a:pPr algn="l">
              <a:spcBef>
                <a:spcPts val="600"/>
              </a:spcBef>
              <a:spcAft>
                <a:spcPts val="200"/>
              </a:spcAft>
            </a:pPr>
            <a:r>
              <a:rPr sz="1300" b="1" i="0">
                <a:solidFill>
                  <a:srgbClr val="1A222C"/>
                </a:solidFill>
                <a:latin typeface="Segoe UI"/>
              </a:rPr>
              <a:t>Every box gets an ID number that sticks with it across frames, so "car #7" is the same car two seconds from now.</a:t>
            </a:r>
          </a:p>
          <a:p>
            <a:pPr algn="l">
              <a:spcBef>
                <a:spcPts val="800"/>
              </a:spcBef>
              <a:spcAft>
                <a:spcPts val="200"/>
              </a:spcAft>
            </a:pPr>
            <a:r>
              <a:rPr sz="1200" b="0" i="0">
                <a:solidFill>
                  <a:srgbClr val="5B6678"/>
                </a:solidFill>
                <a:latin typeface="Segoe UI"/>
              </a:rPr>
              <a:t>Without this, the system has no memory — it would see a car, then see A car a moment later, with no way to know if it's the same one standing still or a different one passing through. Everything the system later says about "how long has this been stationary" depends entirely on this step working.</a:t>
            </a:r>
          </a:p>
          <a:p>
            <a:pPr algn="l">
              <a:spcBef>
                <a:spcPts val="800"/>
              </a:spcBef>
              <a:spcAft>
                <a:spcPts val="200"/>
              </a:spcAft>
            </a:pPr>
            <a:r>
              <a:rPr sz="1200" b="0" i="0">
                <a:solidFill>
                  <a:srgbClr val="5B6678"/>
                </a:solidFill>
                <a:latin typeface="Segoe UI"/>
              </a:rPr>
              <a:t>One extra correction: a drone drifts in the air, so the picture itself shifts slightly frame to frame. We measure and cancel out that camera movement first — otherwise a parked car would look like it's slowly sliding across the screen.</a:t>
            </a:r>
          </a:p>
        </p:txBody>
      </p:sp>
      <p:sp>
        <p:nvSpPr>
          <p:cNvPr id="9" name="TextBox 8"/>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0" name="TextBox 9"/>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CHECKPOINTS 2 &amp; 3, IN DEPTH</a:t>
            </a:r>
          </a:p>
          <a:p>
            <a:pPr algn="l">
              <a:spcBef>
                <a:spcPts val="100"/>
              </a:spcBef>
              <a:spcAft>
                <a:spcPts val="200"/>
              </a:spcAft>
            </a:pPr>
            <a:r>
              <a:rPr sz="2600" b="1" i="0">
                <a:solidFill>
                  <a:srgbClr val="1A222C"/>
                </a:solidFill>
                <a:latin typeface="Segoe UI"/>
              </a:rPr>
              <a:t>Counting, Then a Quick Glance</a:t>
            </a:r>
          </a:p>
          <a:p>
            <a:pPr algn="l">
              <a:spcBef>
                <a:spcPts val="300"/>
              </a:spcBef>
              <a:spcAft>
                <a:spcPts val="200"/>
              </a:spcAft>
            </a:pPr>
            <a:r>
              <a:rPr sz="1250" b="0" i="0">
                <a:solidFill>
                  <a:srgbClr val="5B6678"/>
                </a:solidFill>
                <a:latin typeface="Segoe UI"/>
              </a:rPr>
              <a:t>No AI at all for the boolean decision — then a small, focused specialist for what a photo genuinely can show.</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539496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73936"/>
            <a:ext cx="4846320" cy="274320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CHECKPOINT 2 · COUNTING</a:t>
            </a:r>
          </a:p>
          <a:p>
            <a:pPr algn="l">
              <a:spcBef>
                <a:spcPts val="600"/>
              </a:spcBef>
              <a:spcAft>
                <a:spcPts val="200"/>
              </a:spcAft>
            </a:pPr>
            <a:r>
              <a:rPr sz="1300" b="1" i="0">
                <a:solidFill>
                  <a:srgbClr val="1A222C"/>
                </a:solidFill>
                <a:latin typeface="Segoe UI"/>
              </a:rPr>
              <a:t>For every tracked object: how many seconds has it stayed put? How fast is it moving? Which zone is it in?</a:t>
            </a:r>
          </a:p>
          <a:p>
            <a:pPr algn="l">
              <a:spcBef>
                <a:spcPts val="800"/>
              </a:spcBef>
              <a:spcAft>
                <a:spcPts val="200"/>
              </a:spcAft>
            </a:pPr>
            <a:r>
              <a:rPr sz="1200" b="0" i="0">
                <a:solidFill>
                  <a:srgbClr val="5B6678"/>
                </a:solidFill>
                <a:latin typeface="Segoe UI"/>
              </a:rPr>
              <a:t>This is arithmetic, not artificial intelligence — a stopwatch and a map. "This car has not moved in 12 seconds, and it's in a driving lane, not a parking spot" is a fact you can check with a ruler, not a guess a model makes. That's exactly why it's trustworthy enough to be given the final yes/no decision.</a:t>
            </a:r>
          </a:p>
          <a:p>
            <a:pPr algn="l">
              <a:spcBef>
                <a:spcPts val="800"/>
              </a:spcBef>
              <a:spcAft>
                <a:spcPts val="200"/>
              </a:spcAft>
            </a:pPr>
            <a:r>
              <a:rPr sz="1200" b="0" i="0">
                <a:solidFill>
                  <a:srgbClr val="5B6678"/>
                </a:solidFill>
                <a:latin typeface="Segoe UI"/>
              </a:rPr>
              <a:t>This step also builds the traffic-jam, wrong-direction, and loitering (lingering-too-long) checks — all of them are really just "how long" and "how fast" questions in disguise.</a:t>
            </a:r>
          </a:p>
        </p:txBody>
      </p:sp>
      <p:sp>
        <p:nvSpPr>
          <p:cNvPr id="7" name="Rectangle 6"/>
          <p:cNvSpPr/>
          <p:nvPr/>
        </p:nvSpPr>
        <p:spPr>
          <a:xfrm>
            <a:off x="6062472" y="1572768"/>
            <a:ext cx="557784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36792" y="1773936"/>
            <a:ext cx="5029200" cy="274320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CHECKPOINT 3 · A QUICK GLANCE</a:t>
            </a:r>
          </a:p>
          <a:p>
            <a:pPr algn="l">
              <a:spcBef>
                <a:spcPts val="600"/>
              </a:spcBef>
              <a:spcAft>
                <a:spcPts val="200"/>
              </a:spcAft>
            </a:pPr>
            <a:r>
              <a:rPr sz="1300" b="1" i="0">
                <a:solidFill>
                  <a:srgbClr val="1A222C"/>
                </a:solidFill>
                <a:latin typeface="Segoe UI"/>
              </a:rPr>
              <a:t>A small, specially-trained image-recognition model looks at a handful of frames for things a SINGLE photo genuinely can show.</a:t>
            </a:r>
          </a:p>
          <a:p>
            <a:pPr algn="l">
              <a:spcBef>
                <a:spcPts val="800"/>
              </a:spcBef>
              <a:spcAft>
                <a:spcPts val="200"/>
              </a:spcAft>
            </a:pPr>
            <a:r>
              <a:rPr sz="1200" b="0" i="0">
                <a:solidFill>
                  <a:srgbClr val="5B6678"/>
                </a:solidFill>
                <a:latin typeface="Segoe UI"/>
              </a:rPr>
              <a:t>Fire, smoke, a flood, or debris on the road don't need motion or timing to recognise — a photograph is enough, the way you'd recognise a photo of a house fire instantly. So this step is kept deliberately narrow: it only ever answers questions a still image can honestly answer.</a:t>
            </a:r>
          </a:p>
          <a:p>
            <a:pPr algn="l">
              <a:spcBef>
                <a:spcPts val="800"/>
              </a:spcBef>
              <a:spcAft>
                <a:spcPts val="200"/>
              </a:spcAft>
            </a:pPr>
            <a:r>
              <a:rPr sz="1200" b="0" i="0">
                <a:solidFill>
                  <a:srgbClr val="5B6678"/>
                </a:solidFill>
                <a:latin typeface="Segoe UI"/>
              </a:rPr>
              <a:t>It is trained specifically on these categories, on footage similar to what we expect to see — not a generic "recognise anything" model, which would be slower and less accurate at this one job.</a:t>
            </a:r>
          </a:p>
        </p:txBody>
      </p:sp>
      <p:sp>
        <p:nvSpPr>
          <p:cNvPr id="9" name="TextBox 8"/>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0" name="TextBox 9"/>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CHECKPOINT 4, IN DEPTH</a:t>
            </a:r>
          </a:p>
          <a:p>
            <a:pPr algn="l">
              <a:spcBef>
                <a:spcPts val="100"/>
              </a:spcBef>
              <a:spcAft>
                <a:spcPts val="200"/>
              </a:spcAft>
            </a:pPr>
            <a:r>
              <a:rPr sz="2600" b="1" i="0">
                <a:solidFill>
                  <a:srgbClr val="1A222C"/>
                </a:solidFill>
                <a:latin typeface="Segoe UI"/>
              </a:rPr>
              <a:t>Calling in the Expert — Rarely, and on Purpose</a:t>
            </a:r>
          </a:p>
          <a:p>
            <a:pPr algn="l">
              <a:spcBef>
                <a:spcPts val="300"/>
              </a:spcBef>
              <a:spcAft>
                <a:spcPts val="200"/>
              </a:spcAft>
            </a:pPr>
            <a:r>
              <a:rPr sz="1250" b="0" i="0">
                <a:solidFill>
                  <a:srgbClr val="5B6678"/>
                </a:solidFill>
                <a:latin typeface="Segoe UI"/>
              </a:rPr>
              <a:t>The one step that uses a big, expensive AI model — deliberately limited to under 2% of frames.</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11091672" cy="155448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55648"/>
            <a:ext cx="10515600" cy="1234440"/>
          </a:xfrm>
          <a:prstGeom prst="rect">
            <a:avLst/>
          </a:prstGeom>
          <a:noFill/>
        </p:spPr>
        <p:txBody>
          <a:bodyPr wrap="square" lIns="0" rIns="0" tIns="0" bIns="0">
            <a:spAutoFit/>
          </a:bodyPr>
          <a:lstStyle/>
          <a:p>
            <a:pPr algn="l">
              <a:spcBef>
                <a:spcPts val="0"/>
              </a:spcBef>
              <a:spcAft>
                <a:spcPts val="200"/>
              </a:spcAft>
            </a:pPr>
            <a:r>
              <a:rPr sz="1050" b="1" i="0">
                <a:solidFill>
                  <a:srgbClr val="E87122"/>
                </a:solidFill>
                <a:latin typeface="Segoe UI"/>
              </a:rPr>
              <a:t>WHAT IT DOES</a:t>
            </a:r>
          </a:p>
          <a:p>
            <a:pPr algn="l">
              <a:spcBef>
                <a:spcPts val="400"/>
              </a:spcBef>
              <a:spcAft>
                <a:spcPts val="200"/>
              </a:spcAft>
            </a:pPr>
            <a:r>
              <a:rPr sz="1250" b="0" i="0">
                <a:solidFill>
                  <a:srgbClr val="1A222C"/>
                </a:solidFill>
                <a:latin typeface="Segoe UI"/>
              </a:rPr>
              <a:t>A vision-language model — an AI that looks at a picture and writes a sentence describing it — is shown the specific frame that Checkpoints 1-3 flagged as suspicious, along with a short note on what triggered the flag. It writes back a description, and it can raise the alarm level if it spots something dangerous the earlier steps missed.</a:t>
            </a:r>
          </a:p>
        </p:txBody>
      </p:sp>
      <p:sp>
        <p:nvSpPr>
          <p:cNvPr id="7" name="Rectangle 6"/>
          <p:cNvSpPr/>
          <p:nvPr/>
        </p:nvSpPr>
        <p:spPr>
          <a:xfrm>
            <a:off x="548640" y="3310128"/>
            <a:ext cx="3566160" cy="2651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493008"/>
            <a:ext cx="3127248" cy="2331720"/>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Why so rarely?</a:t>
            </a:r>
          </a:p>
          <a:p>
            <a:pPr algn="l">
              <a:spcBef>
                <a:spcPts val="800"/>
              </a:spcBef>
              <a:spcAft>
                <a:spcPts val="200"/>
              </a:spcAft>
            </a:pPr>
            <a:r>
              <a:rPr sz="1150" b="0" i="0">
                <a:solidFill>
                  <a:srgbClr val="5B6678"/>
                </a:solidFill>
                <a:latin typeface="Segoe UI"/>
              </a:rPr>
              <a:t>This model is slow (tens of seconds per look) and needs more computer memory than our laptop's graphics card has to spare alongside Checkpoint 1's detector. Calling it on every frame was never fast enough to be useful — so it's saved for the rare frames that need it.</a:t>
            </a:r>
          </a:p>
        </p:txBody>
      </p:sp>
      <p:sp>
        <p:nvSpPr>
          <p:cNvPr id="9" name="Rectangle 8"/>
          <p:cNvSpPr/>
          <p:nvPr/>
        </p:nvSpPr>
        <p:spPr>
          <a:xfrm>
            <a:off x="4297680" y="3310128"/>
            <a:ext cx="3566160" cy="2651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7136" y="3493008"/>
            <a:ext cx="3127248" cy="2331720"/>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Why can it raise alarms but never lower them?</a:t>
            </a:r>
          </a:p>
          <a:p>
            <a:pPr algn="l">
              <a:spcBef>
                <a:spcPts val="800"/>
              </a:spcBef>
              <a:spcAft>
                <a:spcPts val="200"/>
              </a:spcAft>
            </a:pPr>
            <a:r>
              <a:rPr sz="1150" b="0" i="0">
                <a:solidFill>
                  <a:srgbClr val="5B6678"/>
                </a:solidFill>
                <a:latin typeface="Segoe UI"/>
              </a:rPr>
              <a:t>It can describe a scene well, but — as the next slide explains in detail — a single picture genuinely cannot tell it whether an object has been stopped for two seconds or two minutes. So it is trusted to spot dangers, not to overrule a timing measurement it cannot see.</a:t>
            </a:r>
          </a:p>
        </p:txBody>
      </p:sp>
      <p:sp>
        <p:nvSpPr>
          <p:cNvPr id="11" name="Rectangle 10"/>
          <p:cNvSpPr/>
          <p:nvPr/>
        </p:nvSpPr>
        <p:spPr>
          <a:xfrm>
            <a:off x="8046720" y="3310128"/>
            <a:ext cx="3566160" cy="2651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66176" y="3493008"/>
            <a:ext cx="3127248" cy="2331720"/>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Was it customised for this job?</a:t>
            </a:r>
          </a:p>
          <a:p>
            <a:pPr algn="l">
              <a:spcBef>
                <a:spcPts val="800"/>
              </a:spcBef>
              <a:spcAft>
                <a:spcPts val="200"/>
              </a:spcAft>
            </a:pPr>
            <a:r>
              <a:rPr sz="1150" b="0" i="0">
                <a:solidFill>
                  <a:srgbClr val="5B6678"/>
                </a:solidFill>
                <a:latin typeface="Segoe UI"/>
              </a:rPr>
              <a:t>Yes — it was specifically retrained (a process called fine-tuning) on examples from this exact kind of footage, so its descriptions and judgement are sharper on aerial traffic scenes than an untrained, off-the-shelf version would be.</a:t>
            </a:r>
          </a:p>
        </p:txBody>
      </p:sp>
      <p:sp>
        <p:nvSpPr>
          <p:cNvPr id="13" name="TextBox 12"/>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4" name="TextBox 13"/>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WHY WE CHOSE THIS APPROACH</a:t>
            </a:r>
          </a:p>
          <a:p>
            <a:pPr algn="l">
              <a:spcBef>
                <a:spcPts val="100"/>
              </a:spcBef>
              <a:spcAft>
                <a:spcPts val="200"/>
              </a:spcAft>
            </a:pPr>
            <a:r>
              <a:rPr sz="2600" b="1" i="0">
                <a:solidFill>
                  <a:srgbClr val="1A222C"/>
                </a:solidFill>
                <a:latin typeface="Segoe UI"/>
              </a:rPr>
              <a:t>The One Fact That Decided Almost Everything</a:t>
            </a:r>
          </a:p>
          <a:p>
            <a:pPr algn="l">
              <a:spcBef>
                <a:spcPts val="300"/>
              </a:spcBef>
              <a:spcAft>
                <a:spcPts val="200"/>
              </a:spcAft>
            </a:pPr>
            <a:r>
              <a:rPr sz="1250" b="0" i="0">
                <a:solidFill>
                  <a:srgbClr val="5B6678"/>
                </a:solidFill>
                <a:latin typeface="Segoe UI"/>
              </a:rPr>
              <a:t>A single frozen photo cannot show you motion — and most of what we needed to detect IS motion.</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11091672" cy="1965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54864" cy="1965960"/>
          </a:xfrm>
          <a:prstGeom prst="rect">
            <a:avLst/>
          </a:prstGeom>
          <a:solidFill>
            <a:srgbClr val="E87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73936"/>
            <a:ext cx="10424160" cy="1600200"/>
          </a:xfrm>
          <a:prstGeom prst="rect">
            <a:avLst/>
          </a:prstGeom>
          <a:noFill/>
        </p:spPr>
        <p:txBody>
          <a:bodyPr wrap="square" lIns="0" rIns="0" tIns="0" bIns="0">
            <a:spAutoFit/>
          </a:bodyPr>
          <a:lstStyle/>
          <a:p>
            <a:pPr algn="l">
              <a:spcBef>
                <a:spcPts val="0"/>
              </a:spcBef>
              <a:spcAft>
                <a:spcPts val="200"/>
              </a:spcAft>
            </a:pPr>
            <a:r>
              <a:rPr sz="1200" b="1" i="0">
                <a:solidFill>
                  <a:srgbClr val="E87122"/>
                </a:solidFill>
                <a:latin typeface="Segoe UI"/>
              </a:rPr>
              <a:t>A PHOTO OF A STOPPED CAR AND A PHOTO OF A MOVING CAR LOOK IDENTICAL</a:t>
            </a:r>
          </a:p>
          <a:p>
            <a:pPr algn="l">
              <a:spcBef>
                <a:spcPts val="600"/>
              </a:spcBef>
              <a:spcAft>
                <a:spcPts val="200"/>
              </a:spcAft>
            </a:pPr>
            <a:r>
              <a:rPr sz="1250" b="0" i="0">
                <a:solidFill>
                  <a:srgbClr val="5B6678"/>
                </a:solidFill>
                <a:latin typeface="Segoe UI"/>
              </a:rPr>
              <a:t>We tried simply asking the expert vision-language model, directly: "is this anomalous?" It got the answer right only as often as a coin flip would — because from one still image, it genuinely cannot tell whether a car is parked or paused at a red light. Its written description was accurate ("a car sitting in a driving lane while traffic flows around it"), but its yes/no answer contradicted its own sentence, because a single picture just doesn't contain that information.</a:t>
            </a:r>
          </a:p>
        </p:txBody>
      </p:sp>
      <p:sp>
        <p:nvSpPr>
          <p:cNvPr id="8" name="Rectangle 7"/>
          <p:cNvSpPr/>
          <p:nvPr/>
        </p:nvSpPr>
        <p:spPr>
          <a:xfrm>
            <a:off x="548640" y="3749039"/>
            <a:ext cx="5440680" cy="24231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3950207"/>
            <a:ext cx="4928616" cy="2011680"/>
          </a:xfrm>
          <a:prstGeom prst="rect">
            <a:avLst/>
          </a:prstGeom>
          <a:noFill/>
        </p:spPr>
        <p:txBody>
          <a:bodyPr wrap="square" lIns="0" rIns="0" tIns="0" bIns="0">
            <a:spAutoFit/>
          </a:bodyPr>
          <a:lstStyle/>
          <a:p>
            <a:pPr algn="l">
              <a:spcBef>
                <a:spcPts val="0"/>
              </a:spcBef>
              <a:spcAft>
                <a:spcPts val="200"/>
              </a:spcAft>
            </a:pPr>
            <a:r>
              <a:rPr sz="1400" b="1" i="0">
                <a:solidFill>
                  <a:srgbClr val="1B7F5A"/>
                </a:solidFill>
                <a:latin typeface="Segoe UI"/>
              </a:rPr>
              <a:t>So the yes/no decision moved to counting, not to AI</a:t>
            </a:r>
          </a:p>
          <a:p>
            <a:pPr algn="l">
              <a:spcBef>
                <a:spcPts val="800"/>
              </a:spcBef>
              <a:spcAft>
                <a:spcPts val="200"/>
              </a:spcAft>
            </a:pPr>
            <a:r>
              <a:rPr sz="1250" b="0" i="0">
                <a:solidFill>
                  <a:srgbClr val="5B6678"/>
                </a:solidFill>
                <a:latin typeface="Segoe UI"/>
              </a:rPr>
              <a:t>Whether something is anomalous is decided by simple measurements — how long has it stood still, which zone is it in, are the vehicles around it still moving — which a computer can measure with total reliability. Nothing here is guessed.</a:t>
            </a:r>
          </a:p>
        </p:txBody>
      </p:sp>
      <p:sp>
        <p:nvSpPr>
          <p:cNvPr id="10" name="Rectangle 9"/>
          <p:cNvSpPr/>
          <p:nvPr/>
        </p:nvSpPr>
        <p:spPr>
          <a:xfrm>
            <a:off x="6199632" y="3749039"/>
            <a:ext cx="5440680" cy="24231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3950207"/>
            <a:ext cx="4928616" cy="2011680"/>
          </a:xfrm>
          <a:prstGeom prst="rect">
            <a:avLst/>
          </a:prstGeom>
          <a:noFill/>
        </p:spPr>
        <p:txBody>
          <a:bodyPr wrap="square" lIns="0" rIns="0" tIns="0" bIns="0">
            <a:spAutoFit/>
          </a:bodyPr>
          <a:lstStyle/>
          <a:p>
            <a:pPr algn="l">
              <a:spcBef>
                <a:spcPts val="0"/>
              </a:spcBef>
              <a:spcAft>
                <a:spcPts val="200"/>
              </a:spcAft>
            </a:pPr>
            <a:r>
              <a:rPr sz="1400" b="1" i="0">
                <a:solidFill>
                  <a:srgbClr val="1B7F5A"/>
                </a:solidFill>
                <a:latin typeface="Segoe UI"/>
              </a:rPr>
              <a:t>The AI's job became "describe", not "judge"</a:t>
            </a:r>
          </a:p>
          <a:p>
            <a:pPr algn="l">
              <a:spcBef>
                <a:spcPts val="800"/>
              </a:spcBef>
              <a:spcAft>
                <a:spcPts val="200"/>
              </a:spcAft>
            </a:pPr>
            <a:r>
              <a:rPr sz="1250" b="0" i="0">
                <a:solidFill>
                  <a:srgbClr val="5B6678"/>
                </a:solidFill>
                <a:latin typeface="Segoe UI"/>
              </a:rPr>
              <a:t>The expert model is asked to say what it sees, in words — smoke, a person down, a crowd — a task it is genuinely good at. It can raise an alarm louder if it spots something dangerous, but it is never allowed to overrule a measurement that already found a problem.</a:t>
            </a:r>
          </a:p>
        </p:txBody>
      </p:sp>
      <p:sp>
        <p:nvSpPr>
          <p:cNvPr id="12" name="TextBox 11"/>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3" name="TextBox 12"/>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THE REASONING, STEP BY STEP</a:t>
            </a:r>
          </a:p>
          <a:p>
            <a:pPr algn="l">
              <a:spcBef>
                <a:spcPts val="100"/>
              </a:spcBef>
              <a:spcAft>
                <a:spcPts val="200"/>
              </a:spcAft>
            </a:pPr>
            <a:r>
              <a:rPr sz="2600" b="1" i="0">
                <a:solidFill>
                  <a:srgbClr val="1A222C"/>
                </a:solidFill>
                <a:latin typeface="Segoe UI"/>
              </a:rPr>
              <a:t>Every Design Choice Had a Concrete Reason</a:t>
            </a:r>
          </a:p>
          <a:p>
            <a:pPr algn="l">
              <a:spcBef>
                <a:spcPts val="300"/>
              </a:spcBef>
              <a:spcAft>
                <a:spcPts val="200"/>
              </a:spcAft>
            </a:pPr>
            <a:r>
              <a:rPr sz="1250" b="0" i="0">
                <a:solidFill>
                  <a:srgbClr val="5B6678"/>
                </a:solidFill>
                <a:latin typeface="Segoe UI"/>
              </a:rPr>
              <a:t>Not "best practice" — a specific problem we hit, and the fix that followed.</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26464"/>
            <a:ext cx="11091672" cy="950976"/>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517904"/>
            <a:ext cx="457200" cy="457200"/>
          </a:xfrm>
          <a:prstGeom prst="rect">
            <a:avLst/>
          </a:prstGeom>
          <a:noFill/>
        </p:spPr>
        <p:txBody>
          <a:bodyPr wrap="square" lIns="0" rIns="0" tIns="0" bIns="0">
            <a:spAutoFit/>
          </a:bodyPr>
          <a:lstStyle/>
          <a:p>
            <a:pPr algn="l">
              <a:spcBef>
                <a:spcPts val="0"/>
              </a:spcBef>
              <a:spcAft>
                <a:spcPts val="200"/>
              </a:spcAft>
            </a:pPr>
            <a:r>
              <a:rPr sz="1800" b="1" i="0">
                <a:solidFill>
                  <a:srgbClr val="2E86AB"/>
                </a:solidFill>
                <a:latin typeface="Segoe UI"/>
              </a:rPr>
              <a:t>1</a:t>
            </a:r>
          </a:p>
        </p:txBody>
      </p:sp>
      <p:sp>
        <p:nvSpPr>
          <p:cNvPr id="7" name="TextBox 6"/>
          <p:cNvSpPr txBox="1"/>
          <p:nvPr/>
        </p:nvSpPr>
        <p:spPr>
          <a:xfrm>
            <a:off x="1207008" y="1499616"/>
            <a:ext cx="10378440" cy="822960"/>
          </a:xfrm>
          <a:prstGeom prst="rect">
            <a:avLst/>
          </a:prstGeom>
          <a:noFill/>
        </p:spPr>
        <p:txBody>
          <a:bodyPr wrap="square" lIns="0" rIns="0" tIns="0" bIns="0">
            <a:spAutoFit/>
          </a:bodyPr>
          <a:lstStyle/>
          <a:p>
            <a:pPr algn="l">
              <a:spcBef>
                <a:spcPts val="0"/>
              </a:spcBef>
              <a:spcAft>
                <a:spcPts val="200"/>
              </a:spcAft>
            </a:pPr>
            <a:r>
              <a:rPr sz="1200" b="1" i="0">
                <a:solidFill>
                  <a:srgbClr val="1A222C"/>
                </a:solidFill>
                <a:latin typeface="Segoe UI"/>
              </a:rPr>
              <a:t>The camera stabilisation step</a:t>
            </a:r>
          </a:p>
          <a:p>
            <a:pPr>
              <a:spcBef>
                <a:spcPts val="200"/>
              </a:spcBef>
            </a:pPr>
            <a:r>
              <a:rPr sz="1000" b="1">
                <a:solidFill>
                  <a:srgbClr val="B4332E"/>
                </a:solidFill>
                <a:latin typeface="Segoe UI"/>
              </a:rPr>
              <a:t>The problem: </a:t>
            </a:r>
            <a:r>
              <a:rPr sz="1000">
                <a:solidFill>
                  <a:srgbClr val="5B6678"/>
                </a:solidFill>
                <a:latin typeface="Segoe UI"/>
              </a:rPr>
              <a:t>A drone drifts and turns in the air, so even a PARKED car appears to move across the picture. Without correcting for the drone's own motion first, the system would think every car was driving, all the time.</a:t>
            </a:r>
          </a:p>
          <a:p>
            <a:pPr>
              <a:spcBef>
                <a:spcPts val="100"/>
              </a:spcBef>
            </a:pPr>
            <a:r>
              <a:rPr sz="1000" b="1">
                <a:solidFill>
                  <a:srgbClr val="1B7F5A"/>
                </a:solidFill>
                <a:latin typeface="Segoe UI"/>
              </a:rPr>
              <a:t>The fix: </a:t>
            </a:r>
            <a:r>
              <a:rPr sz="1000">
                <a:solidFill>
                  <a:srgbClr val="5B6678"/>
                </a:solidFill>
                <a:latin typeface="Segoe UI"/>
              </a:rPr>
              <a:t>We calculate how much the whole scene shifted between frames and subtract that out — the same trick as image stabilisation in a phone camera, run in reverse to reveal what's truly still.</a:t>
            </a:r>
          </a:p>
        </p:txBody>
      </p:sp>
      <p:sp>
        <p:nvSpPr>
          <p:cNvPr id="8" name="Rectangle 7"/>
          <p:cNvSpPr/>
          <p:nvPr/>
        </p:nvSpPr>
        <p:spPr>
          <a:xfrm>
            <a:off x="548640" y="2432304"/>
            <a:ext cx="11091672" cy="950976"/>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2523744"/>
            <a:ext cx="457200" cy="457200"/>
          </a:xfrm>
          <a:prstGeom prst="rect">
            <a:avLst/>
          </a:prstGeom>
          <a:noFill/>
        </p:spPr>
        <p:txBody>
          <a:bodyPr wrap="square" lIns="0" rIns="0" tIns="0" bIns="0">
            <a:spAutoFit/>
          </a:bodyPr>
          <a:lstStyle/>
          <a:p>
            <a:pPr algn="l">
              <a:spcBef>
                <a:spcPts val="0"/>
              </a:spcBef>
              <a:spcAft>
                <a:spcPts val="200"/>
              </a:spcAft>
            </a:pPr>
            <a:r>
              <a:rPr sz="1800" b="1" i="0">
                <a:solidFill>
                  <a:srgbClr val="2E86AB"/>
                </a:solidFill>
                <a:latin typeface="Segoe UI"/>
              </a:rPr>
              <a:t>2</a:t>
            </a:r>
          </a:p>
        </p:txBody>
      </p:sp>
      <p:sp>
        <p:nvSpPr>
          <p:cNvPr id="10" name="TextBox 9"/>
          <p:cNvSpPr txBox="1"/>
          <p:nvPr/>
        </p:nvSpPr>
        <p:spPr>
          <a:xfrm>
            <a:off x="1207008" y="2505456"/>
            <a:ext cx="10378440" cy="822960"/>
          </a:xfrm>
          <a:prstGeom prst="rect">
            <a:avLst/>
          </a:prstGeom>
          <a:noFill/>
        </p:spPr>
        <p:txBody>
          <a:bodyPr wrap="square" lIns="0" rIns="0" tIns="0" bIns="0">
            <a:spAutoFit/>
          </a:bodyPr>
          <a:lstStyle/>
          <a:p>
            <a:pPr algn="l">
              <a:spcBef>
                <a:spcPts val="0"/>
              </a:spcBef>
              <a:spcAft>
                <a:spcPts val="200"/>
              </a:spcAft>
            </a:pPr>
            <a:r>
              <a:rPr sz="1200" b="1" i="0">
                <a:solidFill>
                  <a:srgbClr val="1A222C"/>
                </a:solidFill>
                <a:latin typeface="Segoe UI"/>
              </a:rPr>
              <a:t>Why timing ("has this been happening for a while?") beats a snapshot</a:t>
            </a:r>
          </a:p>
          <a:p>
            <a:pPr>
              <a:spcBef>
                <a:spcPts val="200"/>
              </a:spcBef>
            </a:pPr>
            <a:r>
              <a:rPr sz="1000" b="1">
                <a:solidFill>
                  <a:srgbClr val="B4332E"/>
                </a:solidFill>
                <a:latin typeface="Segoe UI"/>
              </a:rPr>
              <a:t>The problem: </a:t>
            </a:r>
            <a:r>
              <a:rPr sz="1000">
                <a:solidFill>
                  <a:srgbClr val="5B6678"/>
                </a:solidFill>
                <a:latin typeface="Segoe UI"/>
              </a:rPr>
              <a:t>A traffic jam that clears in five seconds is normal; one that doesn't clear for two minutes is a problem. The difference is entirely about duration, which a single frame cannot capture at all.</a:t>
            </a:r>
          </a:p>
          <a:p>
            <a:pPr>
              <a:spcBef>
                <a:spcPts val="100"/>
              </a:spcBef>
            </a:pPr>
            <a:r>
              <a:rPr sz="1000" b="1">
                <a:solidFill>
                  <a:srgbClr val="1B7F5A"/>
                </a:solidFill>
                <a:latin typeface="Segoe UI"/>
              </a:rPr>
              <a:t>The fix: </a:t>
            </a:r>
            <a:r>
              <a:rPr sz="1000">
                <a:solidFill>
                  <a:srgbClr val="5B6678"/>
                </a:solidFill>
                <a:latin typeface="Segoe UI"/>
              </a:rPr>
              <a:t>The counting stage keeps a running clock on every tracked object, so "how long" becomes a number we can simply compare to a threshold.</a:t>
            </a:r>
          </a:p>
        </p:txBody>
      </p:sp>
      <p:sp>
        <p:nvSpPr>
          <p:cNvPr id="11" name="Rectangle 10"/>
          <p:cNvSpPr/>
          <p:nvPr/>
        </p:nvSpPr>
        <p:spPr>
          <a:xfrm>
            <a:off x="548640" y="3438144"/>
            <a:ext cx="11091672" cy="950976"/>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3529584"/>
            <a:ext cx="457200" cy="457200"/>
          </a:xfrm>
          <a:prstGeom prst="rect">
            <a:avLst/>
          </a:prstGeom>
          <a:noFill/>
        </p:spPr>
        <p:txBody>
          <a:bodyPr wrap="square" lIns="0" rIns="0" tIns="0" bIns="0">
            <a:spAutoFit/>
          </a:bodyPr>
          <a:lstStyle/>
          <a:p>
            <a:pPr algn="l">
              <a:spcBef>
                <a:spcPts val="0"/>
              </a:spcBef>
              <a:spcAft>
                <a:spcPts val="200"/>
              </a:spcAft>
            </a:pPr>
            <a:r>
              <a:rPr sz="1800" b="1" i="0">
                <a:solidFill>
                  <a:srgbClr val="2E86AB"/>
                </a:solidFill>
                <a:latin typeface="Segoe UI"/>
              </a:rPr>
              <a:t>3</a:t>
            </a:r>
          </a:p>
        </p:txBody>
      </p:sp>
      <p:sp>
        <p:nvSpPr>
          <p:cNvPr id="13" name="TextBox 12"/>
          <p:cNvSpPr txBox="1"/>
          <p:nvPr/>
        </p:nvSpPr>
        <p:spPr>
          <a:xfrm>
            <a:off x="1207008" y="3511296"/>
            <a:ext cx="10378440" cy="822960"/>
          </a:xfrm>
          <a:prstGeom prst="rect">
            <a:avLst/>
          </a:prstGeom>
          <a:noFill/>
        </p:spPr>
        <p:txBody>
          <a:bodyPr wrap="square" lIns="0" rIns="0" tIns="0" bIns="0">
            <a:spAutoFit/>
          </a:bodyPr>
          <a:lstStyle/>
          <a:p>
            <a:pPr algn="l">
              <a:spcBef>
                <a:spcPts val="0"/>
              </a:spcBef>
              <a:spcAft>
                <a:spcPts val="200"/>
              </a:spcAft>
            </a:pPr>
            <a:r>
              <a:rPr sz="1200" b="1" i="0">
                <a:solidFill>
                  <a:srgbClr val="1A222C"/>
                </a:solidFill>
                <a:latin typeface="Segoe UI"/>
              </a:rPr>
              <a:t>Why we trained our own small object-detector instead of a general one</a:t>
            </a:r>
          </a:p>
          <a:p>
            <a:pPr>
              <a:spcBef>
                <a:spcPts val="200"/>
              </a:spcBef>
            </a:pPr>
            <a:r>
              <a:rPr sz="1000" b="1">
                <a:solidFill>
                  <a:srgbClr val="B4332E"/>
                </a:solidFill>
                <a:latin typeface="Segoe UI"/>
              </a:rPr>
              <a:t>The problem: </a:t>
            </a:r>
            <a:r>
              <a:rPr sz="1000">
                <a:solidFill>
                  <a:srgbClr val="5B6678"/>
                </a:solidFill>
                <a:latin typeface="Segoe UI"/>
              </a:rPr>
              <a:t>Off-the-shelf detectors are trained mostly on eye-level photos — a person walking toward the camera, a car seen from the side. From directly above, at altitude, everything looks small and unfamiliar, and the off-the-shelf detector missed the majority of real objects.</a:t>
            </a:r>
          </a:p>
          <a:p>
            <a:pPr>
              <a:spcBef>
                <a:spcPts val="100"/>
              </a:spcBef>
            </a:pPr>
            <a:r>
              <a:rPr sz="1000" b="1">
                <a:solidFill>
                  <a:srgbClr val="1B7F5A"/>
                </a:solidFill>
                <a:latin typeface="Segoe UI"/>
              </a:rPr>
              <a:t>The fix: </a:t>
            </a:r>
            <a:r>
              <a:rPr sz="1000">
                <a:solidFill>
                  <a:srgbClr val="5B6678"/>
                </a:solidFill>
                <a:latin typeface="Segoe UI"/>
              </a:rPr>
              <a:t>We retrained it specifically on aerial, top-down footage. Recall (how much it actually finds) nearly tripled, for the cost of a training run, not new hardware.</a:t>
            </a:r>
          </a:p>
        </p:txBody>
      </p:sp>
      <p:sp>
        <p:nvSpPr>
          <p:cNvPr id="14" name="Rectangle 13"/>
          <p:cNvSpPr/>
          <p:nvPr/>
        </p:nvSpPr>
        <p:spPr>
          <a:xfrm>
            <a:off x="548640" y="4443984"/>
            <a:ext cx="11091672" cy="950976"/>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535424"/>
            <a:ext cx="457200" cy="457200"/>
          </a:xfrm>
          <a:prstGeom prst="rect">
            <a:avLst/>
          </a:prstGeom>
          <a:noFill/>
        </p:spPr>
        <p:txBody>
          <a:bodyPr wrap="square" lIns="0" rIns="0" tIns="0" bIns="0">
            <a:spAutoFit/>
          </a:bodyPr>
          <a:lstStyle/>
          <a:p>
            <a:pPr algn="l">
              <a:spcBef>
                <a:spcPts val="0"/>
              </a:spcBef>
              <a:spcAft>
                <a:spcPts val="200"/>
              </a:spcAft>
            </a:pPr>
            <a:r>
              <a:rPr sz="1800" b="1" i="0">
                <a:solidFill>
                  <a:srgbClr val="2E86AB"/>
                </a:solidFill>
                <a:latin typeface="Segoe UI"/>
              </a:rPr>
              <a:t>4</a:t>
            </a:r>
          </a:p>
        </p:txBody>
      </p:sp>
      <p:sp>
        <p:nvSpPr>
          <p:cNvPr id="16" name="TextBox 15"/>
          <p:cNvSpPr txBox="1"/>
          <p:nvPr/>
        </p:nvSpPr>
        <p:spPr>
          <a:xfrm>
            <a:off x="1207008" y="4517136"/>
            <a:ext cx="10378440" cy="822960"/>
          </a:xfrm>
          <a:prstGeom prst="rect">
            <a:avLst/>
          </a:prstGeom>
          <a:noFill/>
        </p:spPr>
        <p:txBody>
          <a:bodyPr wrap="square" lIns="0" rIns="0" tIns="0" bIns="0">
            <a:spAutoFit/>
          </a:bodyPr>
          <a:lstStyle/>
          <a:p>
            <a:pPr algn="l">
              <a:spcBef>
                <a:spcPts val="0"/>
              </a:spcBef>
              <a:spcAft>
                <a:spcPts val="200"/>
              </a:spcAft>
            </a:pPr>
            <a:r>
              <a:rPr sz="1200" b="1" i="0">
                <a:solidFill>
                  <a:srgbClr val="1A222C"/>
                </a:solidFill>
                <a:latin typeface="Segoe UI"/>
              </a:rPr>
              <a:t>Why we let a description-writing AI "escalate" but never "clear" an alert</a:t>
            </a:r>
          </a:p>
          <a:p>
            <a:pPr>
              <a:spcBef>
                <a:spcPts val="200"/>
              </a:spcBef>
            </a:pPr>
            <a:r>
              <a:rPr sz="1000" b="1">
                <a:solidFill>
                  <a:srgbClr val="B4332E"/>
                </a:solidFill>
                <a:latin typeface="Segoe UI"/>
              </a:rPr>
              <a:t>The problem: </a:t>
            </a:r>
            <a:r>
              <a:rPr sz="1000">
                <a:solidFill>
                  <a:srgbClr val="5B6678"/>
                </a:solidFill>
                <a:latin typeface="Segoe UI"/>
              </a:rPr>
              <a:t>If we trusted it both ways, a model that misreads an empty-looking frame as "nothing here" could silently cancel an alert that the counting stage had already correctly raised — turning our safety net into a hole in it.</a:t>
            </a:r>
          </a:p>
          <a:p>
            <a:pPr>
              <a:spcBef>
                <a:spcPts val="100"/>
              </a:spcBef>
            </a:pPr>
            <a:r>
              <a:rPr sz="1000" b="1">
                <a:solidFill>
                  <a:srgbClr val="1B7F5A"/>
                </a:solidFill>
                <a:latin typeface="Segoe UI"/>
              </a:rPr>
              <a:t>The fix: </a:t>
            </a:r>
            <a:r>
              <a:rPr sz="1000">
                <a:solidFill>
                  <a:srgbClr val="5B6678"/>
                </a:solidFill>
                <a:latin typeface="Segoe UI"/>
              </a:rPr>
              <a:t>It is allowed to make an alert MORE serious if it spots a visible danger (fire, a person down), but it can never make one go away. The worst it can do is add an unnecessary description; it can't undo a real catch.</a:t>
            </a:r>
          </a:p>
        </p:txBody>
      </p:sp>
      <p:sp>
        <p:nvSpPr>
          <p:cNvPr id="17" name="Rectangle 16"/>
          <p:cNvSpPr/>
          <p:nvPr/>
        </p:nvSpPr>
        <p:spPr>
          <a:xfrm>
            <a:off x="548640" y="5449824"/>
            <a:ext cx="11091672" cy="950976"/>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541264"/>
            <a:ext cx="457200" cy="457200"/>
          </a:xfrm>
          <a:prstGeom prst="rect">
            <a:avLst/>
          </a:prstGeom>
          <a:noFill/>
        </p:spPr>
        <p:txBody>
          <a:bodyPr wrap="square" lIns="0" rIns="0" tIns="0" bIns="0">
            <a:spAutoFit/>
          </a:bodyPr>
          <a:lstStyle/>
          <a:p>
            <a:pPr algn="l">
              <a:spcBef>
                <a:spcPts val="0"/>
              </a:spcBef>
              <a:spcAft>
                <a:spcPts val="200"/>
              </a:spcAft>
            </a:pPr>
            <a:r>
              <a:rPr sz="1800" b="1" i="0">
                <a:solidFill>
                  <a:srgbClr val="2E86AB"/>
                </a:solidFill>
                <a:latin typeface="Segoe UI"/>
              </a:rPr>
              <a:t>5</a:t>
            </a:r>
          </a:p>
        </p:txBody>
      </p:sp>
      <p:sp>
        <p:nvSpPr>
          <p:cNvPr id="19" name="TextBox 18"/>
          <p:cNvSpPr txBox="1"/>
          <p:nvPr/>
        </p:nvSpPr>
        <p:spPr>
          <a:xfrm>
            <a:off x="1207008" y="5522976"/>
            <a:ext cx="10378440" cy="822960"/>
          </a:xfrm>
          <a:prstGeom prst="rect">
            <a:avLst/>
          </a:prstGeom>
          <a:noFill/>
        </p:spPr>
        <p:txBody>
          <a:bodyPr wrap="square" lIns="0" rIns="0" tIns="0" bIns="0">
            <a:spAutoFit/>
          </a:bodyPr>
          <a:lstStyle/>
          <a:p>
            <a:pPr algn="l">
              <a:spcBef>
                <a:spcPts val="0"/>
              </a:spcBef>
              <a:spcAft>
                <a:spcPts val="200"/>
              </a:spcAft>
            </a:pPr>
            <a:r>
              <a:rPr sz="1200" b="1" i="0">
                <a:solidFill>
                  <a:srgbClr val="1A222C"/>
                </a:solidFill>
                <a:latin typeface="Segoe UI"/>
              </a:rPr>
              <a:t>Why we refused to fine-tune our settings against the one test set we could see</a:t>
            </a:r>
          </a:p>
          <a:p>
            <a:pPr>
              <a:spcBef>
                <a:spcPts val="200"/>
              </a:spcBef>
            </a:pPr>
            <a:r>
              <a:rPr sz="1000" b="1">
                <a:solidFill>
                  <a:srgbClr val="B4332E"/>
                </a:solidFill>
                <a:latin typeface="Segoe UI"/>
              </a:rPr>
              <a:t>The problem: </a:t>
            </a:r>
            <a:r>
              <a:rPr sz="1000">
                <a:solidFill>
                  <a:srgbClr val="5B6678"/>
                </a:solidFill>
                <a:latin typeface="Segoe UI"/>
              </a:rPr>
              <a:t>It's tempting to nudge every setting until it scores perfectly on the videos you have in front of you. But that number stops meaning anything the moment you test on videos you haven't seen — including the ones used for real judging.</a:t>
            </a:r>
          </a:p>
          <a:p>
            <a:pPr>
              <a:spcBef>
                <a:spcPts val="100"/>
              </a:spcBef>
            </a:pPr>
            <a:r>
              <a:rPr sz="1000" b="1">
                <a:solidFill>
                  <a:srgbClr val="1B7F5A"/>
                </a:solidFill>
                <a:latin typeface="Segoe UI"/>
              </a:rPr>
              <a:t>The fix: </a:t>
            </a:r>
            <a:r>
              <a:rPr sz="1000">
                <a:solidFill>
                  <a:srgbClr val="5B6678"/>
                </a:solidFill>
                <a:latin typeface="Segoe UI"/>
              </a:rPr>
              <a:t>We checked every tuning idea against a held-out slice it had never touched before trusting it. Several ideas that looked great on the visible videos got measurably worse on the held-out ones, and we dropped them rather than keep the flattering number.</a:t>
            </a:r>
          </a:p>
        </p:txBody>
      </p:sp>
      <p:sp>
        <p:nvSpPr>
          <p:cNvPr id="20" name="TextBox 19"/>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21" name="TextBox 20"/>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WHAT WE TRIED AND DIDN'T KEEP</a:t>
            </a:r>
          </a:p>
          <a:p>
            <a:pPr algn="l">
              <a:spcBef>
                <a:spcPts val="100"/>
              </a:spcBef>
              <a:spcAft>
                <a:spcPts val="200"/>
              </a:spcAft>
            </a:pPr>
            <a:r>
              <a:rPr sz="2600" b="1" i="0">
                <a:solidFill>
                  <a:srgbClr val="1A222C"/>
                </a:solidFill>
                <a:latin typeface="Segoe UI"/>
              </a:rPr>
              <a:t>An Honest Look at a Dead End</a:t>
            </a:r>
          </a:p>
          <a:p>
            <a:pPr algn="l">
              <a:spcBef>
                <a:spcPts val="300"/>
              </a:spcBef>
              <a:spcAft>
                <a:spcPts val="200"/>
              </a:spcAft>
            </a:pPr>
            <a:r>
              <a:rPr sz="1250" b="0" i="0">
                <a:solidFill>
                  <a:srgbClr val="5B6678"/>
                </a:solidFill>
                <a:latin typeface="Segoe UI"/>
              </a:rPr>
              <a:t>Worth showing precisely because it was checked carefully, not just assumed to work.</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11091672" cy="18288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55648"/>
            <a:ext cx="10515600" cy="146304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THE IDEA</a:t>
            </a:r>
          </a:p>
          <a:p>
            <a:pPr algn="l">
              <a:spcBef>
                <a:spcPts val="600"/>
              </a:spcBef>
              <a:spcAft>
                <a:spcPts val="200"/>
              </a:spcAft>
            </a:pPr>
            <a:r>
              <a:rPr sz="1250" b="0" i="0">
                <a:solidFill>
                  <a:srgbClr val="1A222C"/>
                </a:solidFill>
                <a:latin typeface="Segoe UI"/>
              </a:rPr>
              <a:t>A single video frame can't show motion — so what if we fed the model the DIFFERENCE between two frames instead of a plain photo? In theory, anything that isn't moving would cancel out to black, and only genuine motion would remain — which sounded like exactly the missing ingredient.</a:t>
            </a:r>
          </a:p>
        </p:txBody>
      </p:sp>
      <p:sp>
        <p:nvSpPr>
          <p:cNvPr id="7" name="Rectangle 6"/>
          <p:cNvSpPr/>
          <p:nvPr/>
        </p:nvSpPr>
        <p:spPr>
          <a:xfrm>
            <a:off x="548640" y="3566160"/>
            <a:ext cx="3566160" cy="22860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566160"/>
            <a:ext cx="3566160"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3785616"/>
            <a:ext cx="3127248" cy="1920240"/>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What we expected</a:t>
            </a:r>
          </a:p>
          <a:p>
            <a:pPr algn="l">
              <a:spcBef>
                <a:spcPts val="800"/>
              </a:spcBef>
              <a:spcAft>
                <a:spcPts val="200"/>
              </a:spcAft>
            </a:pPr>
            <a:r>
              <a:rPr sz="1150" b="0" i="0">
                <a:solidFill>
                  <a:srgbClr val="5B6678"/>
                </a:solidFill>
                <a:latin typeface="Segoe UI"/>
              </a:rPr>
              <a:t>A model trained on "difference images" would finally be able to tell the difference between a car that's driving through a busy scene and one that's been sitting still in the same busy scene.</a:t>
            </a:r>
          </a:p>
        </p:txBody>
      </p:sp>
      <p:sp>
        <p:nvSpPr>
          <p:cNvPr id="10" name="Rectangle 9"/>
          <p:cNvSpPr/>
          <p:nvPr/>
        </p:nvSpPr>
        <p:spPr>
          <a:xfrm>
            <a:off x="4297680" y="3566160"/>
            <a:ext cx="3566160" cy="22860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3566160"/>
            <a:ext cx="3566160" cy="54864"/>
          </a:xfrm>
          <a:prstGeom prst="rect">
            <a:avLst/>
          </a:prstGeom>
          <a:solidFill>
            <a:srgbClr val="B4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7136" y="3785616"/>
            <a:ext cx="3127248" cy="1920240"/>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What we actually measured</a:t>
            </a:r>
          </a:p>
          <a:p>
            <a:pPr algn="l">
              <a:spcBef>
                <a:spcPts val="800"/>
              </a:spcBef>
              <a:spcAft>
                <a:spcPts val="200"/>
              </a:spcAft>
            </a:pPr>
            <a:r>
              <a:rPr sz="1150" b="0" i="0">
                <a:solidFill>
                  <a:srgbClr val="5B6678"/>
                </a:solidFill>
                <a:latin typeface="Segoe UI"/>
              </a:rPr>
              <a:t>On a six-minute test video where only 2% of the footage was truly anomalous, the new model flagged 100% of it as suspicious — worse than before we made the change, not better.</a:t>
            </a:r>
          </a:p>
        </p:txBody>
      </p:sp>
      <p:sp>
        <p:nvSpPr>
          <p:cNvPr id="13" name="Rectangle 12"/>
          <p:cNvSpPr/>
          <p:nvPr/>
        </p:nvSpPr>
        <p:spPr>
          <a:xfrm>
            <a:off x="8046720" y="3566160"/>
            <a:ext cx="3566160" cy="22860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3566160"/>
            <a:ext cx="3566160"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6176" y="3785616"/>
            <a:ext cx="3127248" cy="1920240"/>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Why it failed, in plain terms</a:t>
            </a:r>
          </a:p>
          <a:p>
            <a:pPr algn="l">
              <a:spcBef>
                <a:spcPts val="800"/>
              </a:spcBef>
              <a:spcAft>
                <a:spcPts val="200"/>
              </a:spcAft>
            </a:pPr>
            <a:r>
              <a:rPr sz="1150" b="0" i="0">
                <a:solidFill>
                  <a:srgbClr val="5B6678"/>
                </a:solidFill>
                <a:latin typeface="Segoe UI"/>
              </a:rPr>
              <a:t>In a scene full of ordinary moving traffic, almost everything is "moving" all the time. One person standing still in a busy scene doesn't stand out in the difference image any more than they stood out in the original photo — the real clue was never in one frame at all, difference or not.</a:t>
            </a:r>
          </a:p>
        </p:txBody>
      </p:sp>
      <p:sp>
        <p:nvSpPr>
          <p:cNvPr id="16" name="TextBox 15"/>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7" name="TextBox 16"/>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RESULTS, IN PLAIN LANGUAGE</a:t>
            </a:r>
          </a:p>
          <a:p>
            <a:pPr algn="l">
              <a:spcBef>
                <a:spcPts val="100"/>
              </a:spcBef>
              <a:spcAft>
                <a:spcPts val="200"/>
              </a:spcAft>
            </a:pPr>
            <a:r>
              <a:rPr sz="2600" b="1" i="0">
                <a:solidFill>
                  <a:srgbClr val="1A222C"/>
                </a:solidFill>
                <a:latin typeface="Segoe UI"/>
              </a:rPr>
              <a:t>How Well Does It Actually Work?</a:t>
            </a:r>
          </a:p>
          <a:p>
            <a:pPr algn="l">
              <a:spcBef>
                <a:spcPts val="300"/>
              </a:spcBef>
              <a:spcAft>
                <a:spcPts val="200"/>
              </a:spcAft>
            </a:pPr>
            <a:r>
              <a:rPr sz="1250" b="0" i="0">
                <a:solidFill>
                  <a:srgbClr val="5B6678"/>
                </a:solidFill>
                <a:latin typeface="Segoe UI"/>
              </a:rPr>
              <a:t>Numbers translated into what they mean, not just reported.</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5440680" cy="27432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73936"/>
            <a:ext cx="4937760" cy="237744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SPEED</a:t>
            </a:r>
          </a:p>
          <a:p>
            <a:pPr algn="l">
              <a:spcBef>
                <a:spcPts val="600"/>
              </a:spcBef>
              <a:spcAft>
                <a:spcPts val="200"/>
              </a:spcAft>
            </a:pPr>
            <a:r>
              <a:rPr sz="1400" b="1" i="0">
                <a:solidFill>
                  <a:srgbClr val="1A222C"/>
                </a:solidFill>
                <a:latin typeface="Segoe UI"/>
              </a:rPr>
              <a:t>Fast enough to watch live video as it happens.</a:t>
            </a:r>
          </a:p>
          <a:p>
            <a:pPr algn="l">
              <a:spcBef>
                <a:spcPts val="800"/>
              </a:spcBef>
              <a:spcAft>
                <a:spcPts val="200"/>
              </a:spcAft>
            </a:pPr>
            <a:r>
              <a:rPr sz="1200" b="0" i="0">
                <a:solidFill>
                  <a:srgbClr val="5B6678"/>
                </a:solidFill>
                <a:latin typeface="Segoe UI"/>
              </a:rPr>
              <a:t>The full system processes about 15 video frames every second on our modest laptop graphics card. Ordinary drone footage needs about 12-13 frames a second to look smooth and current — so we're comfortably ahead of "live", with room to spare.</a:t>
            </a:r>
          </a:p>
          <a:p>
            <a:pPr algn="l">
              <a:spcBef>
                <a:spcPts val="800"/>
              </a:spcBef>
              <a:spcAft>
                <a:spcPts val="200"/>
              </a:spcAft>
            </a:pPr>
            <a:r>
              <a:rPr sz="1200" b="0" i="0">
                <a:solidFill>
                  <a:srgbClr val="5B6678"/>
                </a:solidFill>
                <a:latin typeface="Segoe UI"/>
              </a:rPr>
              <a:t>The expert AI model (Checkpoint 4) is much slower on its own — tens of seconds per look — which is exactly why it's only used sparingly, not on every frame.</a:t>
            </a:r>
          </a:p>
        </p:txBody>
      </p:sp>
      <p:sp>
        <p:nvSpPr>
          <p:cNvPr id="7" name="Rectangle 6"/>
          <p:cNvSpPr/>
          <p:nvPr/>
        </p:nvSpPr>
        <p:spPr>
          <a:xfrm>
            <a:off x="6199632" y="1572768"/>
            <a:ext cx="5440680" cy="27432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1773936"/>
            <a:ext cx="4937760" cy="237744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ACCURACY</a:t>
            </a:r>
          </a:p>
          <a:p>
            <a:pPr algn="l">
              <a:spcBef>
                <a:spcPts val="600"/>
              </a:spcBef>
              <a:spcAft>
                <a:spcPts val="200"/>
              </a:spcAft>
            </a:pPr>
            <a:r>
              <a:rPr sz="1400" b="1" i="0">
                <a:solidFill>
                  <a:srgbClr val="1A222C"/>
                </a:solidFill>
                <a:latin typeface="Segoe UI"/>
              </a:rPr>
              <a:t>Strong at "what happened", weaker at "exactly when".</a:t>
            </a:r>
          </a:p>
          <a:p>
            <a:pPr algn="l">
              <a:spcBef>
                <a:spcPts val="800"/>
              </a:spcBef>
              <a:spcAft>
                <a:spcPts val="200"/>
              </a:spcAft>
            </a:pPr>
            <a:r>
              <a:rPr sz="1200" b="0" i="0">
                <a:solidFill>
                  <a:srgbClr val="5B6678"/>
                </a:solidFill>
                <a:latin typeface="Segoe UI"/>
              </a:rPr>
              <a:t>On short clips, and on correctly identifying WHICH category of problem occurred, the system performs solidly — a majority of these are answered correctly.</a:t>
            </a:r>
          </a:p>
          <a:p>
            <a:pPr algn="l">
              <a:spcBef>
                <a:spcPts val="800"/>
              </a:spcBef>
              <a:spcAft>
                <a:spcPts val="200"/>
              </a:spcAft>
            </a:pPr>
            <a:r>
              <a:rPr sz="1200" b="0" i="0">
                <a:solidFill>
                  <a:srgbClr val="5B6678"/>
                </a:solidFill>
                <a:latin typeface="Segoe UI"/>
              </a:rPr>
              <a:t>It performs noticeably worse at pinpointing the exact start and end moment of an event inside long videos (many minutes), because that needs a kind of memory across time that our current fastest component doesn't have — explained on the next slide.</a:t>
            </a:r>
          </a:p>
        </p:txBody>
      </p:sp>
      <p:sp>
        <p:nvSpPr>
          <p:cNvPr id="9" name="Rectangle 8"/>
          <p:cNvSpPr/>
          <p:nvPr/>
        </p:nvSpPr>
        <p:spPr>
          <a:xfrm>
            <a:off x="548640" y="4572000"/>
            <a:ext cx="11091672" cy="1691640"/>
          </a:xfrm>
          <a:prstGeom prst="rect">
            <a:avLst/>
          </a:prstGeom>
          <a:solidFill>
            <a:srgbClr val="EEF4F8"/>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572000"/>
            <a:ext cx="54864" cy="16916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754880"/>
            <a:ext cx="10424160" cy="137160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WHY WE CHECK OUR OWN SCORE INSTEAD OF GUESSING</a:t>
            </a:r>
          </a:p>
          <a:p>
            <a:pPr algn="l">
              <a:spcBef>
                <a:spcPts val="600"/>
              </a:spcBef>
              <a:spcAft>
                <a:spcPts val="200"/>
              </a:spcAft>
            </a:pPr>
            <a:r>
              <a:rPr sz="1250" b="0" i="0">
                <a:solidFill>
                  <a:srgbClr val="1A222C"/>
                </a:solidFill>
                <a:latin typeface="Segoe UI"/>
              </a:rPr>
              <a:t>We built a small tool that recalculates our score the same way the official scoreboard does, before we submit anything — so every change is measured against a real number beforehand, instead of "we think this should help" and finding out only after using up a submission.</a:t>
            </a:r>
          </a:p>
        </p:txBody>
      </p:sp>
      <p:sp>
        <p:nvSpPr>
          <p:cNvPr id="12" name="TextBox 11"/>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3" name="TextBox 12"/>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LIMITATIONS, HONESTLY STATED</a:t>
            </a:r>
          </a:p>
          <a:p>
            <a:pPr algn="l">
              <a:spcBef>
                <a:spcPts val="100"/>
              </a:spcBef>
              <a:spcAft>
                <a:spcPts val="200"/>
              </a:spcAft>
            </a:pPr>
            <a:r>
              <a:rPr sz="2600" b="1" i="0">
                <a:solidFill>
                  <a:srgbClr val="1A222C"/>
                </a:solidFill>
                <a:latin typeface="Segoe UI"/>
              </a:rPr>
              <a:t>What Doesn't Work Yet, and Why</a:t>
            </a:r>
          </a:p>
          <a:p>
            <a:pPr algn="l">
              <a:spcBef>
                <a:spcPts val="300"/>
              </a:spcBef>
              <a:spcAft>
                <a:spcPts val="200"/>
              </a:spcAft>
            </a:pPr>
            <a:r>
              <a:rPr sz="1250" b="0" i="0">
                <a:solidFill>
                  <a:srgbClr val="5B6678"/>
                </a:solidFill>
                <a:latin typeface="Segoe UI"/>
              </a:rPr>
              <a:t>Naming the gap plainly is worth more than a vague claim that everything works.</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6400800" cy="43434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54864" cy="4343400"/>
          </a:xfrm>
          <a:prstGeom prst="rect">
            <a:avLst/>
          </a:prstGeom>
          <a:solidFill>
            <a:srgbClr val="B4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92224"/>
            <a:ext cx="5852160" cy="3931920"/>
          </a:xfrm>
          <a:prstGeom prst="rect">
            <a:avLst/>
          </a:prstGeom>
          <a:noFill/>
        </p:spPr>
        <p:txBody>
          <a:bodyPr wrap="square" lIns="0" rIns="0" tIns="0" bIns="0">
            <a:spAutoFit/>
          </a:bodyPr>
          <a:lstStyle/>
          <a:p>
            <a:pPr algn="l">
              <a:spcBef>
                <a:spcPts val="0"/>
              </a:spcBef>
              <a:spcAft>
                <a:spcPts val="200"/>
              </a:spcAft>
            </a:pPr>
            <a:r>
              <a:rPr sz="1100" b="1" i="0">
                <a:solidFill>
                  <a:srgbClr val="B4332E"/>
                </a:solidFill>
                <a:latin typeface="Segoe UI"/>
              </a:rPr>
              <a:t>THE MAIN GAP</a:t>
            </a:r>
          </a:p>
          <a:p>
            <a:pPr algn="l">
              <a:spcBef>
                <a:spcPts val="600"/>
              </a:spcBef>
              <a:spcAft>
                <a:spcPts val="200"/>
              </a:spcAft>
            </a:pPr>
            <a:r>
              <a:rPr sz="1500" b="1" i="0">
                <a:solidFill>
                  <a:srgbClr val="1A222C"/>
                </a:solidFill>
                <a:latin typeface="Segoe UI"/>
              </a:rPr>
              <a:t>Pinpointing exactly when a long-running problem starts and ends.</a:t>
            </a:r>
          </a:p>
          <a:p>
            <a:pPr algn="l">
              <a:spcBef>
                <a:spcPts val="800"/>
              </a:spcBef>
              <a:spcAft>
                <a:spcPts val="200"/>
              </a:spcAft>
            </a:pPr>
            <a:r>
              <a:rPr sz="1250" b="0" i="0">
                <a:solidFill>
                  <a:srgbClr val="5B6678"/>
                </a:solidFill>
                <a:latin typeface="Segoe UI"/>
              </a:rPr>
              <a:t>Picture a six-minute video where someone is loitering suspiciously for just seven of those seconds. Every one of our fast checkpoints can only look at individual moments and ask "does this look like the category loitering?" — and the honest answer for a busy, ordinary scene is often "kind of, yes", the whole way through, because busy scenes always have SOME people moving around in them.</a:t>
            </a:r>
          </a:p>
          <a:p>
            <a:pPr algn="l">
              <a:spcBef>
                <a:spcPts val="1000"/>
              </a:spcBef>
              <a:spcAft>
                <a:spcPts val="200"/>
              </a:spcAft>
            </a:pPr>
            <a:r>
              <a:rPr sz="1250" b="0" i="0">
                <a:solidFill>
                  <a:srgbClr val="5B6678"/>
                </a:solidFill>
                <a:latin typeface="Segoe UI"/>
              </a:rPr>
              <a:t>The one component that actually knows "this exact person has been standing here for a suspiciously long time" is the counting stage (Checkpoint 2) — because it keeps a per-person clock. The unfinished work is connecting that per-person clock directly to the final start/end answer, instead of relying on the quick-glance model's single-photo judgement for timing it was never built to give.</a:t>
            </a:r>
          </a:p>
        </p:txBody>
      </p:sp>
      <p:sp>
        <p:nvSpPr>
          <p:cNvPr id="8" name="Rectangle 7"/>
          <p:cNvSpPr/>
          <p:nvPr/>
        </p:nvSpPr>
        <p:spPr>
          <a:xfrm>
            <a:off x="7187184" y="1572768"/>
            <a:ext cx="4453128" cy="26060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43216" y="1773936"/>
            <a:ext cx="3977639" cy="228600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TWO SMALLER, DATA-LIMITED GAPS</a:t>
            </a:r>
          </a:p>
          <a:p>
            <a:pPr algn="l">
              <a:spcBef>
                <a:spcPts val="600"/>
              </a:spcBef>
              <a:spcAft>
                <a:spcPts val="200"/>
              </a:spcAft>
            </a:pPr>
            <a:r>
              <a:rPr sz="1250" b="1" i="0">
                <a:solidFill>
                  <a:srgbClr val="1A222C"/>
                </a:solidFill>
                <a:latin typeface="Segoe UI"/>
              </a:rPr>
              <a:t>A model can only learn a pattern it has SEEN many times.</a:t>
            </a:r>
          </a:p>
          <a:p>
            <a:pPr>
              <a:spcBef>
                <a:spcPts val="600"/>
              </a:spcBef>
            </a:pPr>
            <a:r>
              <a:rPr sz="1150" b="1">
                <a:solidFill>
                  <a:srgbClr val="2E86AB"/>
                </a:solidFill>
                <a:latin typeface="Segoe UI"/>
              </a:rPr>
              <a:t>→ </a:t>
            </a:r>
            <a:r>
              <a:rPr sz="1150">
                <a:solidFill>
                  <a:srgbClr val="5B6678"/>
                </a:solidFill>
                <a:latin typeface="Segoe UI"/>
              </a:rPr>
              <a:t>"Stalled or broken-down vehicle" had only 4 example videos in our entire training set — nowhere near enough to teach a model reliably.</a:t>
            </a:r>
          </a:p>
          <a:p>
            <a:pPr>
              <a:spcBef>
                <a:spcPts val="600"/>
              </a:spcBef>
            </a:pPr>
            <a:r>
              <a:rPr sz="1150" b="1">
                <a:solidFill>
                  <a:srgbClr val="2E86AB"/>
                </a:solidFill>
                <a:latin typeface="Segoe UI"/>
              </a:rPr>
              <a:t>→ </a:t>
            </a:r>
            <a:r>
              <a:rPr sz="1150">
                <a:solidFill>
                  <a:srgbClr val="5B6678"/>
                </a:solidFill>
                <a:latin typeface="Segoe UI"/>
              </a:rPr>
              <a:t>"Traffic congestion" had 23 — better, but still thin compared to categories with over a hundred examples.</a:t>
            </a:r>
          </a:p>
        </p:txBody>
      </p:sp>
      <p:sp>
        <p:nvSpPr>
          <p:cNvPr id="10" name="Rectangle 9"/>
          <p:cNvSpPr/>
          <p:nvPr/>
        </p:nvSpPr>
        <p:spPr>
          <a:xfrm>
            <a:off x="7187184" y="4361688"/>
            <a:ext cx="4453128" cy="1554480"/>
          </a:xfrm>
          <a:prstGeom prst="rect">
            <a:avLst/>
          </a:prstGeom>
          <a:solidFill>
            <a:srgbClr val="F0F3F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43216" y="4544568"/>
            <a:ext cx="3977639" cy="1234440"/>
          </a:xfrm>
          <a:prstGeom prst="rect">
            <a:avLst/>
          </a:prstGeom>
          <a:noFill/>
        </p:spPr>
        <p:txBody>
          <a:bodyPr wrap="square" lIns="0" rIns="0" tIns="0" bIns="0">
            <a:spAutoFit/>
          </a:bodyPr>
          <a:lstStyle/>
          <a:p>
            <a:pPr algn="l">
              <a:spcBef>
                <a:spcPts val="0"/>
              </a:spcBef>
              <a:spcAft>
                <a:spcPts val="200"/>
              </a:spcAft>
            </a:pPr>
            <a:r>
              <a:rPr sz="1000" b="1" i="0">
                <a:solidFill>
                  <a:srgbClr val="5B6678"/>
                </a:solidFill>
                <a:latin typeface="Segoe UI"/>
              </a:rPr>
              <a:t>WITH MORE TIME</a:t>
            </a:r>
          </a:p>
          <a:p>
            <a:pPr algn="l">
              <a:spcBef>
                <a:spcPts val="600"/>
              </a:spcBef>
              <a:spcAft>
                <a:spcPts val="200"/>
              </a:spcAft>
            </a:pPr>
            <a:r>
              <a:rPr sz="1150" b="0" i="0">
                <a:solidFill>
                  <a:srgbClr val="1A222C"/>
                </a:solidFill>
                <a:latin typeface="Segoe UI"/>
              </a:rPr>
              <a:t>Give the per-person clock the final say on WHEN an event happened, and reserve the quick-glance model for WHAT category it belongs to — the job each one is actually suited for.</a:t>
            </a:r>
          </a:p>
        </p:txBody>
      </p:sp>
      <p:sp>
        <p:nvSpPr>
          <p:cNvPr id="12" name="TextBox 11"/>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3" name="TextBox 12"/>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A QUICK GLOSSARY</a:t>
            </a:r>
          </a:p>
          <a:p>
            <a:pPr algn="l">
              <a:spcBef>
                <a:spcPts val="100"/>
              </a:spcBef>
              <a:spcAft>
                <a:spcPts val="200"/>
              </a:spcAft>
            </a:pPr>
            <a:r>
              <a:rPr sz="2600" b="1" i="0">
                <a:solidFill>
                  <a:srgbClr val="1A222C"/>
                </a:solidFill>
                <a:latin typeface="Segoe UI"/>
              </a:rPr>
              <a:t>Every Technical Term Used in This Deck</a:t>
            </a:r>
          </a:p>
          <a:p>
            <a:pPr algn="l">
              <a:spcBef>
                <a:spcPts val="300"/>
              </a:spcBef>
              <a:spcAft>
                <a:spcPts val="200"/>
              </a:spcAft>
            </a:pPr>
            <a:r>
              <a:rPr sz="1250" b="0" i="0">
                <a:solidFill>
                  <a:srgbClr val="5B6678"/>
                </a:solidFill>
                <a:latin typeface="Segoe UI"/>
              </a:rPr>
              <a:t>For anyone reading this without an AI background — no term is assumed.</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642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Model</a:t>
            </a:r>
          </a:p>
          <a:p>
            <a:pPr algn="l">
              <a:spcBef>
                <a:spcPts val="200"/>
              </a:spcBef>
              <a:spcAft>
                <a:spcPts val="200"/>
              </a:spcAft>
            </a:pPr>
            <a:r>
              <a:rPr sz="1080" b="0" i="0">
                <a:solidFill>
                  <a:srgbClr val="5B6678"/>
                </a:solidFill>
                <a:latin typeface="Segoe UI"/>
              </a:rPr>
              <a:t>A program that has learned a task from examples, rather than being told explicit step-by-step rules.</a:t>
            </a:r>
          </a:p>
        </p:txBody>
      </p:sp>
      <p:sp>
        <p:nvSpPr>
          <p:cNvPr id="7" name="Rectangle 6"/>
          <p:cNvSpPr/>
          <p:nvPr/>
        </p:nvSpPr>
        <p:spPr>
          <a:xfrm>
            <a:off x="548640" y="24688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5786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Detection</a:t>
            </a:r>
          </a:p>
          <a:p>
            <a:pPr algn="l">
              <a:spcBef>
                <a:spcPts val="200"/>
              </a:spcBef>
              <a:spcAft>
                <a:spcPts val="200"/>
              </a:spcAft>
            </a:pPr>
            <a:r>
              <a:rPr sz="1080" b="0" i="0">
                <a:solidFill>
                  <a:srgbClr val="5B6678"/>
                </a:solidFill>
                <a:latin typeface="Segoe UI"/>
              </a:rPr>
              <a:t>Finding and drawing a box around an object in an image — "there is a car here."</a:t>
            </a:r>
          </a:p>
        </p:txBody>
      </p:sp>
      <p:sp>
        <p:nvSpPr>
          <p:cNvPr id="9" name="Rectangle 8"/>
          <p:cNvSpPr/>
          <p:nvPr/>
        </p:nvSpPr>
        <p:spPr>
          <a:xfrm>
            <a:off x="548640" y="33832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4930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Tracking</a:t>
            </a:r>
          </a:p>
          <a:p>
            <a:pPr algn="l">
              <a:spcBef>
                <a:spcPts val="200"/>
              </a:spcBef>
              <a:spcAft>
                <a:spcPts val="200"/>
              </a:spcAft>
            </a:pPr>
            <a:r>
              <a:rPr sz="1080" b="0" i="0">
                <a:solidFill>
                  <a:srgbClr val="5B6678"/>
                </a:solidFill>
                <a:latin typeface="Segoe UI"/>
              </a:rPr>
              <a:t>Giving each detected object an ID number that stays the same across frames, so you know it's the same car, not a new one.</a:t>
            </a:r>
          </a:p>
        </p:txBody>
      </p:sp>
      <p:sp>
        <p:nvSpPr>
          <p:cNvPr id="11" name="Rectangle 10"/>
          <p:cNvSpPr/>
          <p:nvPr/>
        </p:nvSpPr>
        <p:spPr>
          <a:xfrm>
            <a:off x="548640" y="42976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4074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Vision-language model</a:t>
            </a:r>
          </a:p>
          <a:p>
            <a:pPr algn="l">
              <a:spcBef>
                <a:spcPts val="200"/>
              </a:spcBef>
              <a:spcAft>
                <a:spcPts val="200"/>
              </a:spcAft>
            </a:pPr>
            <a:r>
              <a:rPr sz="1080" b="0" i="0">
                <a:solidFill>
                  <a:srgbClr val="5B6678"/>
                </a:solidFill>
                <a:latin typeface="Segoe UI"/>
              </a:rPr>
              <a:t>An AI that can look at an image and produce a written sentence describing it, or answer questions about it.</a:t>
            </a:r>
          </a:p>
        </p:txBody>
      </p:sp>
      <p:sp>
        <p:nvSpPr>
          <p:cNvPr id="13" name="Rectangle 12"/>
          <p:cNvSpPr/>
          <p:nvPr/>
        </p:nvSpPr>
        <p:spPr>
          <a:xfrm>
            <a:off x="548640" y="52120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3218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Fine-tuning</a:t>
            </a:r>
          </a:p>
          <a:p>
            <a:pPr algn="l">
              <a:spcBef>
                <a:spcPts val="200"/>
              </a:spcBef>
              <a:spcAft>
                <a:spcPts val="200"/>
              </a:spcAft>
            </a:pPr>
            <a:r>
              <a:rPr sz="1080" b="0" i="0">
                <a:solidFill>
                  <a:srgbClr val="5B6678"/>
                </a:solidFill>
                <a:latin typeface="Segoe UI"/>
              </a:rPr>
              <a:t>Taking an existing, general AI model and retraining it further on examples specific to one job, to sharpen it for that job.</a:t>
            </a:r>
          </a:p>
        </p:txBody>
      </p:sp>
      <p:sp>
        <p:nvSpPr>
          <p:cNvPr id="15" name="Rectangle 14"/>
          <p:cNvSpPr/>
          <p:nvPr/>
        </p:nvSpPr>
        <p:spPr>
          <a:xfrm>
            <a:off x="6199632" y="15544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6642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Inference</a:t>
            </a:r>
          </a:p>
          <a:p>
            <a:pPr algn="l">
              <a:spcBef>
                <a:spcPts val="200"/>
              </a:spcBef>
              <a:spcAft>
                <a:spcPts val="200"/>
              </a:spcAft>
            </a:pPr>
            <a:r>
              <a:rPr sz="1080" b="0" i="0">
                <a:solidFill>
                  <a:srgbClr val="5B6678"/>
                </a:solidFill>
                <a:latin typeface="Segoe UI"/>
              </a:rPr>
              <a:t>The act of a trained model actually being run to produce an answer — as opposed to the earlier process of training it.</a:t>
            </a:r>
          </a:p>
        </p:txBody>
      </p:sp>
      <p:sp>
        <p:nvSpPr>
          <p:cNvPr id="17" name="Rectangle 16"/>
          <p:cNvSpPr/>
          <p:nvPr/>
        </p:nvSpPr>
        <p:spPr>
          <a:xfrm>
            <a:off x="6199632" y="24688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25786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GPU / video memory</a:t>
            </a:r>
          </a:p>
          <a:p>
            <a:pPr algn="l">
              <a:spcBef>
                <a:spcPts val="200"/>
              </a:spcBef>
              <a:spcAft>
                <a:spcPts val="200"/>
              </a:spcAft>
            </a:pPr>
            <a:r>
              <a:rPr sz="1080" b="0" i="0">
                <a:solidFill>
                  <a:srgbClr val="5B6678"/>
                </a:solidFill>
                <a:latin typeface="Segoe UI"/>
              </a:rPr>
              <a:t>The specialised chip (and its own separate memory) that AI models run on, because it's far faster at this kind of math than the everyday processor in a computer.</a:t>
            </a:r>
          </a:p>
        </p:txBody>
      </p:sp>
      <p:sp>
        <p:nvSpPr>
          <p:cNvPr id="19" name="Rectangle 18"/>
          <p:cNvSpPr/>
          <p:nvPr/>
        </p:nvSpPr>
        <p:spPr>
          <a:xfrm>
            <a:off x="6199632" y="33832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34930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False alarm</a:t>
            </a:r>
          </a:p>
          <a:p>
            <a:pPr algn="l">
              <a:spcBef>
                <a:spcPts val="200"/>
              </a:spcBef>
              <a:spcAft>
                <a:spcPts val="200"/>
              </a:spcAft>
            </a:pPr>
            <a:r>
              <a:rPr sz="1080" b="0" i="0">
                <a:solidFill>
                  <a:srgbClr val="5B6678"/>
                </a:solidFill>
                <a:latin typeface="Segoe UI"/>
              </a:rPr>
              <a:t>The system flags something as a problem when nothing was actually wrong — the more expensive kind of mistake to make here.</a:t>
            </a:r>
          </a:p>
        </p:txBody>
      </p:sp>
      <p:sp>
        <p:nvSpPr>
          <p:cNvPr id="21" name="Rectangle 20"/>
          <p:cNvSpPr/>
          <p:nvPr/>
        </p:nvSpPr>
        <p:spPr>
          <a:xfrm>
            <a:off x="6199632" y="42976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44074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Recall</a:t>
            </a:r>
          </a:p>
          <a:p>
            <a:pPr algn="l">
              <a:spcBef>
                <a:spcPts val="200"/>
              </a:spcBef>
              <a:spcAft>
                <a:spcPts val="200"/>
              </a:spcAft>
            </a:pPr>
            <a:r>
              <a:rPr sz="1080" b="0" i="0">
                <a:solidFill>
                  <a:srgbClr val="5B6678"/>
                </a:solidFill>
                <a:latin typeface="Segoe UI"/>
              </a:rPr>
              <a:t>Out of all the real problems that existed, what fraction did the system actually find? A low recall means it misses things.</a:t>
            </a:r>
          </a:p>
        </p:txBody>
      </p:sp>
      <p:sp>
        <p:nvSpPr>
          <p:cNvPr id="23" name="Rectangle 22"/>
          <p:cNvSpPr/>
          <p:nvPr/>
        </p:nvSpPr>
        <p:spPr>
          <a:xfrm>
            <a:off x="6199632" y="52120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53218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Ground truth</a:t>
            </a:r>
          </a:p>
          <a:p>
            <a:pPr algn="l">
              <a:spcBef>
                <a:spcPts val="200"/>
              </a:spcBef>
              <a:spcAft>
                <a:spcPts val="200"/>
              </a:spcAft>
            </a:pPr>
            <a:r>
              <a:rPr sz="1080" b="0" i="0">
                <a:solidFill>
                  <a:srgbClr val="5B6678"/>
                </a:solidFill>
                <a:latin typeface="Segoe UI"/>
              </a:rPr>
              <a:t>The verified, correct answer for a video — used to check whether the system's answer was right.</a:t>
            </a:r>
          </a:p>
        </p:txBody>
      </p:sp>
      <p:sp>
        <p:nvSpPr>
          <p:cNvPr id="25" name="TextBox 24"/>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26" name="TextBox 25"/>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